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8288000" cy="10287000"/>
  <p:notesSz cx="6858000" cy="9144000"/>
  <p:embeddedFontLst>
    <p:embeddedFont>
      <p:font typeface="Ojuju Bold" charset="1" panose="00000000000000000000"/>
      <p:regular r:id="rId20"/>
    </p:embeddedFont>
    <p:embeddedFont>
      <p:font typeface="Canva Sans Bold" charset="1" panose="020B0803030501040103"/>
      <p:regular r:id="rId21"/>
    </p:embeddedFont>
    <p:embeddedFont>
      <p:font typeface="Lexend Deca" charset="1" panose="0000000000000000000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8" Type="http://schemas.openxmlformats.org/officeDocument/2006/relationships/slide" Target="slides/slide3.xml"/><Relationship Id="rId21" Type="http://schemas.openxmlformats.org/officeDocument/2006/relationships/font" Target="fonts/font21.fntdata"/><Relationship Id="rId3" Type="http://schemas.openxmlformats.org/officeDocument/2006/relationships/viewProps" Target="viewProps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7" Type="http://schemas.openxmlformats.org/officeDocument/2006/relationships/slide" Target="slides/slide2.xml"/><Relationship Id="rId25" Type="http://schemas.openxmlformats.org/officeDocument/2006/relationships/customXml" Target="../customXml/item3.xml"/><Relationship Id="rId16" Type="http://schemas.openxmlformats.org/officeDocument/2006/relationships/slide" Target="slides/slide11.xml"/><Relationship Id="rId2" Type="http://schemas.openxmlformats.org/officeDocument/2006/relationships/presProps" Target="presProps.xml"/><Relationship Id="rId20" Type="http://schemas.openxmlformats.org/officeDocument/2006/relationships/font" Target="fonts/font20.fntdata"/><Relationship Id="rId1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6" Type="http://schemas.openxmlformats.org/officeDocument/2006/relationships/slide" Target="slides/slide1.xml"/><Relationship Id="rId24" Type="http://schemas.openxmlformats.org/officeDocument/2006/relationships/customXml" Target="../customXml/item2.xml"/><Relationship Id="rId15" Type="http://schemas.openxmlformats.org/officeDocument/2006/relationships/slide" Target="slides/slide10.xml"/><Relationship Id="rId5" Type="http://schemas.openxmlformats.org/officeDocument/2006/relationships/tableStyles" Target="tableStyles.xml"/><Relationship Id="rId23" Type="http://schemas.openxmlformats.org/officeDocument/2006/relationships/customXml" Target="../customXml/item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14" Type="http://schemas.openxmlformats.org/officeDocument/2006/relationships/slide" Target="slides/slide9.xml"/><Relationship Id="rId22" Type="http://schemas.openxmlformats.org/officeDocument/2006/relationships/font" Target="fonts/font22.fntdata"/><Relationship Id="rId4" Type="http://schemas.openxmlformats.org/officeDocument/2006/relationships/theme" Target="theme/theme1.xml"/><Relationship Id="rId9" Type="http://schemas.openxmlformats.org/officeDocument/2006/relationships/slide" Target="slides/slide4.xml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jpeg" Type="http://schemas.openxmlformats.org/officeDocument/2006/relationships/image"/><Relationship Id="rId3" Target="../media/image1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svg" Type="http://schemas.openxmlformats.org/officeDocument/2006/relationships/image"/><Relationship Id="rId4" Target="../media/image15.png" Type="http://schemas.openxmlformats.org/officeDocument/2006/relationships/image"/><Relationship Id="rId5" Target="../media/image16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Relationship Id="rId3" Target="../media/image21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Relationship Id="rId3" Target="../media/image23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AED8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96118">
            <a:off x="301671" y="3035763"/>
            <a:ext cx="7209585" cy="8688737"/>
            <a:chOff x="0" y="0"/>
            <a:chExt cx="9612779" cy="11584983"/>
          </a:xfrm>
        </p:grpSpPr>
        <p:sp>
          <p:nvSpPr>
            <p:cNvPr name="Freeform 3" id="3"/>
            <p:cNvSpPr/>
            <p:nvPr/>
          </p:nvSpPr>
          <p:spPr>
            <a:xfrm flipH="true" flipV="false" rot="3714635">
              <a:off x="-163336" y="4220451"/>
              <a:ext cx="2832925" cy="1328899"/>
            </a:xfrm>
            <a:custGeom>
              <a:avLst/>
              <a:gdLst/>
              <a:ahLst/>
              <a:cxnLst/>
              <a:rect r="r" b="b" t="t" l="l"/>
              <a:pathLst>
                <a:path h="1328899" w="2832925">
                  <a:moveTo>
                    <a:pt x="2832925" y="0"/>
                  </a:moveTo>
                  <a:lnTo>
                    <a:pt x="0" y="0"/>
                  </a:lnTo>
                  <a:lnTo>
                    <a:pt x="0" y="1328900"/>
                  </a:lnTo>
                  <a:lnTo>
                    <a:pt x="2832925" y="1328900"/>
                  </a:lnTo>
                  <a:lnTo>
                    <a:pt x="2832925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745001" y="0"/>
              <a:ext cx="8867778" cy="11584983"/>
            </a:xfrm>
            <a:custGeom>
              <a:avLst/>
              <a:gdLst/>
              <a:ahLst/>
              <a:cxnLst/>
              <a:rect r="r" b="b" t="t" l="l"/>
              <a:pathLst>
                <a:path h="11584983" w="8867778">
                  <a:moveTo>
                    <a:pt x="0" y="0"/>
                  </a:moveTo>
                  <a:lnTo>
                    <a:pt x="8867778" y="0"/>
                  </a:lnTo>
                  <a:lnTo>
                    <a:pt x="8867778" y="11584983"/>
                  </a:lnTo>
                  <a:lnTo>
                    <a:pt x="0" y="115849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882793" y="-1279576"/>
            <a:ext cx="6047339" cy="3091702"/>
          </a:xfrm>
          <a:custGeom>
            <a:avLst/>
            <a:gdLst/>
            <a:ahLst/>
            <a:cxnLst/>
            <a:rect r="r" b="b" t="t" l="l"/>
            <a:pathLst>
              <a:path h="3091702" w="6047339">
                <a:moveTo>
                  <a:pt x="0" y="0"/>
                </a:moveTo>
                <a:lnTo>
                  <a:pt x="6047339" y="0"/>
                </a:lnTo>
                <a:lnTo>
                  <a:pt x="6047339" y="3091702"/>
                </a:lnTo>
                <a:lnTo>
                  <a:pt x="0" y="309170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-1268800" y="1488942"/>
            <a:ext cx="4303187" cy="2200005"/>
          </a:xfrm>
          <a:custGeom>
            <a:avLst/>
            <a:gdLst/>
            <a:ahLst/>
            <a:cxnLst/>
            <a:rect r="r" b="b" t="t" l="l"/>
            <a:pathLst>
              <a:path h="2200005" w="4303187">
                <a:moveTo>
                  <a:pt x="0" y="0"/>
                </a:moveTo>
                <a:lnTo>
                  <a:pt x="4303187" y="0"/>
                </a:lnTo>
                <a:lnTo>
                  <a:pt x="4303187" y="2200004"/>
                </a:lnTo>
                <a:lnTo>
                  <a:pt x="0" y="220000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true" flipV="false" rot="-693380">
            <a:off x="1434840" y="1385565"/>
            <a:ext cx="3723746" cy="1591055"/>
          </a:xfrm>
          <a:custGeom>
            <a:avLst/>
            <a:gdLst/>
            <a:ahLst/>
            <a:cxnLst/>
            <a:rect r="r" b="b" t="t" l="l"/>
            <a:pathLst>
              <a:path h="1591055" w="3723746">
                <a:moveTo>
                  <a:pt x="3723745" y="0"/>
                </a:moveTo>
                <a:lnTo>
                  <a:pt x="0" y="0"/>
                </a:lnTo>
                <a:lnTo>
                  <a:pt x="0" y="1591055"/>
                </a:lnTo>
                <a:lnTo>
                  <a:pt x="3723745" y="1591055"/>
                </a:lnTo>
                <a:lnTo>
                  <a:pt x="3723745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8" id="8"/>
          <p:cNvSpPr/>
          <p:nvPr/>
        </p:nvSpPr>
        <p:spPr>
          <a:xfrm flipH="true" flipV="false" rot="-127671">
            <a:off x="5294135" y="1983121"/>
            <a:ext cx="1753656" cy="782569"/>
          </a:xfrm>
          <a:custGeom>
            <a:avLst/>
            <a:gdLst/>
            <a:ahLst/>
            <a:cxnLst/>
            <a:rect r="r" b="b" t="t" l="l"/>
            <a:pathLst>
              <a:path h="782569" w="1753656">
                <a:moveTo>
                  <a:pt x="1753656" y="0"/>
                </a:moveTo>
                <a:lnTo>
                  <a:pt x="0" y="0"/>
                </a:lnTo>
                <a:lnTo>
                  <a:pt x="0" y="782569"/>
                </a:lnTo>
                <a:lnTo>
                  <a:pt x="1753656" y="782569"/>
                </a:lnTo>
                <a:lnTo>
                  <a:pt x="1753656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9" id="9"/>
          <p:cNvSpPr txBox="true"/>
          <p:nvPr/>
        </p:nvSpPr>
        <p:spPr>
          <a:xfrm rot="0">
            <a:off x="7631298" y="690847"/>
            <a:ext cx="9826489" cy="90386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87"/>
              </a:lnSpc>
            </a:pPr>
            <a:r>
              <a:rPr lang="en-US" b="true" sz="9610">
                <a:solidFill>
                  <a:srgbClr val="34150B"/>
                </a:solidFill>
                <a:latin typeface="Ojuju Bold"/>
                <a:ea typeface="Ojuju Bold"/>
                <a:cs typeface="Ojuju Bold"/>
                <a:sym typeface="Ojuju Bold"/>
              </a:rPr>
              <a:t>CEYLONMATE </a:t>
            </a:r>
            <a:r>
              <a:rPr lang="en-US" b="true" sz="9610">
                <a:solidFill>
                  <a:srgbClr val="000000"/>
                </a:solidFill>
                <a:latin typeface="Ojuju Bold"/>
                <a:ea typeface="Ojuju Bold"/>
                <a:cs typeface="Ojuju Bold"/>
                <a:sym typeface="Ojuju Bold"/>
              </a:rPr>
              <a:t>-</a:t>
            </a:r>
          </a:p>
          <a:p>
            <a:pPr algn="ctr">
              <a:lnSpc>
                <a:spcPts val="10187"/>
              </a:lnSpc>
            </a:pPr>
          </a:p>
          <a:p>
            <a:pPr algn="ctr">
              <a:lnSpc>
                <a:spcPts val="10187"/>
              </a:lnSpc>
            </a:pPr>
            <a:r>
              <a:rPr lang="en-US" b="true" sz="9610">
                <a:solidFill>
                  <a:srgbClr val="000000"/>
                </a:solidFill>
                <a:latin typeface="Ojuju Bold"/>
                <a:ea typeface="Ojuju Bold"/>
                <a:cs typeface="Ojuju Bold"/>
                <a:sym typeface="Ojuju Bold"/>
              </a:rPr>
              <a:t> SMART TOURISM COMPANION FOR FOREIGN TRAVELERS IN SRI LANKA ​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AED8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fast">
    <p:fade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AED8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61410" y="4226544"/>
            <a:ext cx="6978376" cy="4656480"/>
          </a:xfrm>
          <a:custGeom>
            <a:avLst/>
            <a:gdLst/>
            <a:ahLst/>
            <a:cxnLst/>
            <a:rect r="r" b="b" t="t" l="l"/>
            <a:pathLst>
              <a:path h="4656480" w="6978376">
                <a:moveTo>
                  <a:pt x="0" y="0"/>
                </a:moveTo>
                <a:lnTo>
                  <a:pt x="6978376" y="0"/>
                </a:lnTo>
                <a:lnTo>
                  <a:pt x="6978376" y="4656480"/>
                </a:lnTo>
                <a:lnTo>
                  <a:pt x="0" y="46564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752387" y="226638"/>
            <a:ext cx="4296109" cy="5008298"/>
          </a:xfrm>
          <a:custGeom>
            <a:avLst/>
            <a:gdLst/>
            <a:ahLst/>
            <a:cxnLst/>
            <a:rect r="r" b="b" t="t" l="l"/>
            <a:pathLst>
              <a:path h="5008298" w="4296109">
                <a:moveTo>
                  <a:pt x="0" y="0"/>
                </a:moveTo>
                <a:lnTo>
                  <a:pt x="4296109" y="0"/>
                </a:lnTo>
                <a:lnTo>
                  <a:pt x="4296109" y="5008298"/>
                </a:lnTo>
                <a:lnTo>
                  <a:pt x="0" y="500829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816383" y="1437590"/>
            <a:ext cx="12185073" cy="12033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800"/>
              </a:lnSpc>
            </a:pPr>
            <a:r>
              <a:rPr lang="en-US" sz="70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It22340528 p</a:t>
            </a:r>
            <a:r>
              <a:rPr lang="en-US" b="true" sz="70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athiraja j.w.p.d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403722" y="5540855"/>
            <a:ext cx="7195468" cy="2734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b="true" sz="5199">
                <a:solidFill>
                  <a:srgbClr val="34150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AI-Powered Personalized Itinerary Generator​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AED8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869085" y="1028700"/>
            <a:ext cx="8220024" cy="8479132"/>
            <a:chOff x="0" y="0"/>
            <a:chExt cx="6218167" cy="641417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30" y="34"/>
              <a:ext cx="6218136" cy="6414139"/>
            </a:xfrm>
            <a:custGeom>
              <a:avLst/>
              <a:gdLst/>
              <a:ahLst/>
              <a:cxnLst/>
              <a:rect r="r" b="b" t="t" l="l"/>
              <a:pathLst>
                <a:path h="6414139" w="6218136">
                  <a:moveTo>
                    <a:pt x="5932768" y="728819"/>
                  </a:moveTo>
                  <a:cubicBezTo>
                    <a:pt x="6089739" y="762982"/>
                    <a:pt x="6218137" y="922367"/>
                    <a:pt x="6218137" y="1083022"/>
                  </a:cubicBezTo>
                  <a:lnTo>
                    <a:pt x="6218137" y="6122039"/>
                  </a:lnTo>
                  <a:cubicBezTo>
                    <a:pt x="6218137" y="6282694"/>
                    <a:pt x="6086691" y="6414139"/>
                    <a:pt x="5926037" y="6414139"/>
                  </a:cubicBezTo>
                  <a:lnTo>
                    <a:pt x="233015" y="6414139"/>
                  </a:lnTo>
                  <a:cubicBezTo>
                    <a:pt x="72360" y="6414139"/>
                    <a:pt x="-29113" y="6286123"/>
                    <a:pt x="7463" y="6129786"/>
                  </a:cubicBezTo>
                  <a:lnTo>
                    <a:pt x="1360775" y="228947"/>
                  </a:lnTo>
                  <a:cubicBezTo>
                    <a:pt x="1397351" y="72483"/>
                    <a:pt x="1555847" y="-27466"/>
                    <a:pt x="1712819" y="6697"/>
                  </a:cubicBezTo>
                  <a:lnTo>
                    <a:pt x="5932768" y="728819"/>
                  </a:lnTo>
                  <a:close/>
                </a:path>
              </a:pathLst>
            </a:custGeom>
            <a:solidFill>
              <a:srgbClr val="D0EDE9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0490105" y="3717556"/>
            <a:ext cx="7797895" cy="5790276"/>
          </a:xfrm>
          <a:custGeom>
            <a:avLst/>
            <a:gdLst/>
            <a:ahLst/>
            <a:cxnLst/>
            <a:rect r="r" b="b" t="t" l="l"/>
            <a:pathLst>
              <a:path h="5790276" w="7797895">
                <a:moveTo>
                  <a:pt x="0" y="0"/>
                </a:moveTo>
                <a:lnTo>
                  <a:pt x="7797895" y="0"/>
                </a:lnTo>
                <a:lnTo>
                  <a:pt x="7797895" y="5790276"/>
                </a:lnTo>
                <a:lnTo>
                  <a:pt x="0" y="57902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-24143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2998698" y="1253983"/>
            <a:ext cx="3256476" cy="1799203"/>
          </a:xfrm>
          <a:custGeom>
            <a:avLst/>
            <a:gdLst/>
            <a:ahLst/>
            <a:cxnLst/>
            <a:rect r="r" b="b" t="t" l="l"/>
            <a:pathLst>
              <a:path h="1799203" w="3256476">
                <a:moveTo>
                  <a:pt x="0" y="0"/>
                </a:moveTo>
                <a:lnTo>
                  <a:pt x="3256476" y="0"/>
                </a:lnTo>
                <a:lnTo>
                  <a:pt x="3256476" y="1799203"/>
                </a:lnTo>
                <a:lnTo>
                  <a:pt x="0" y="179920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74023" y="1855418"/>
            <a:ext cx="11566736" cy="3724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Problems​</a:t>
            </a:r>
          </a:p>
          <a:p>
            <a:pPr algn="l" marL="512763" indent="-256382" lvl="1">
              <a:lnSpc>
                <a:spcPts val="2850"/>
              </a:lnSpc>
              <a:buFont typeface="Arial"/>
              <a:buChar char="•"/>
            </a:pPr>
            <a:r>
              <a:rPr lang="en-US" sz="2375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Static Itineraries : Traditional travel plans do not respond to real-time changes such as weather, traffic, or sudden events.​</a:t>
            </a:r>
          </a:p>
          <a:p>
            <a:pPr algn="l" marL="512763" indent="-256382" lvl="1">
              <a:lnSpc>
                <a:spcPts val="2850"/>
              </a:lnSpc>
              <a:buFont typeface="Arial"/>
              <a:buChar char="•"/>
            </a:pPr>
            <a:r>
              <a:rPr lang="en-US" sz="2375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Poor Personalization : Most itinerary tools generate generic plans that fail to reflect a tourist’s true interests, budget, or travel style.​</a:t>
            </a:r>
          </a:p>
          <a:p>
            <a:pPr algn="l" marL="512763" indent="-256382" lvl="1">
              <a:lnSpc>
                <a:spcPts val="2850"/>
              </a:lnSpc>
              <a:buFont typeface="Arial"/>
              <a:buChar char="•"/>
            </a:pPr>
            <a:r>
              <a:rPr lang="en-US" sz="2375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Time-Consuming Planning : Tourists struggle to manually compare attractions, travel times, and hotel options.​</a:t>
            </a:r>
          </a:p>
          <a:p>
            <a:pPr algn="l" marL="512763" indent="-256382" lvl="1">
              <a:lnSpc>
                <a:spcPts val="2850"/>
              </a:lnSpc>
              <a:buFont typeface="Arial"/>
              <a:buChar char="•"/>
            </a:pPr>
            <a:r>
              <a:rPr lang="en-US" sz="2375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Lack of Smart Recommendations : No automatic suggestion system to reorder, replace, or optimize plans during the trip.​</a:t>
            </a:r>
          </a:p>
          <a:p>
            <a:pPr algn="l">
              <a:lnSpc>
                <a:spcPts val="2850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406183" y="75565"/>
            <a:ext cx="6527527" cy="1811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</a:t>
            </a:r>
            <a:r>
              <a:rPr lang="en-US" b="true" sz="51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ain problem and Solution ​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74023" y="5817473"/>
            <a:ext cx="11108258" cy="421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sz="2999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Solution​</a:t>
            </a:r>
          </a:p>
          <a:p>
            <a:pPr algn="l" marL="496571" indent="-248285" lvl="1">
              <a:lnSpc>
                <a:spcPts val="2760"/>
              </a:lnSpc>
              <a:buFont typeface="Arial"/>
              <a:buChar char="•"/>
            </a:pPr>
            <a:r>
              <a:rPr lang="en-US" sz="2300" u="sng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Personalized Itinerary Planning</a:t>
            </a:r>
            <a:r>
              <a:rPr lang="en-US" sz="2300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 : AI analyzes user interests, budget, trip duration, and travel style to design fully customized travel plans.​</a:t>
            </a:r>
          </a:p>
          <a:p>
            <a:pPr algn="l" marL="496571" indent="-248285" lvl="1">
              <a:lnSpc>
                <a:spcPts val="2760"/>
              </a:lnSpc>
              <a:buFont typeface="Arial"/>
              <a:buChar char="•"/>
            </a:pPr>
            <a:r>
              <a:rPr lang="en-US" sz="2300" u="sng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Real-Time Adaptive Replanning </a:t>
            </a:r>
            <a:r>
              <a:rPr lang="en-US" sz="2300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: Itinerary automatically updates based on: Weather changes (rain, storms, heat), Traffic congestion, Local events.​</a:t>
            </a:r>
          </a:p>
          <a:p>
            <a:pPr algn="l" marL="496571" indent="-248285" lvl="1">
              <a:lnSpc>
                <a:spcPts val="2760"/>
              </a:lnSpc>
              <a:buFont typeface="Arial"/>
              <a:buChar char="•"/>
            </a:pPr>
            <a:r>
              <a:rPr lang="en-US" sz="2300" u="sng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Hybrid AI Recommendation Engine </a:t>
            </a:r>
            <a:r>
              <a:rPr lang="en-US" sz="2300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: Machine Learning + Rule-based logic selects the best attractions, visit order, transport routes, and timings.​</a:t>
            </a:r>
          </a:p>
          <a:p>
            <a:pPr algn="l" marL="496571" indent="-248285" lvl="1">
              <a:lnSpc>
                <a:spcPts val="2760"/>
              </a:lnSpc>
              <a:buFont typeface="Arial"/>
              <a:buChar char="•"/>
            </a:pPr>
            <a:r>
              <a:rPr lang="en-US" sz="2300" u="sng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Smart Hotel Suggestion System </a:t>
            </a:r>
            <a:r>
              <a:rPr lang="en-US" sz="2300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: AI recommends nearby hotels with the best travel convenience.​</a:t>
            </a:r>
          </a:p>
          <a:p>
            <a:pPr algn="l" marL="496571" indent="-248285" lvl="1">
              <a:lnSpc>
                <a:spcPts val="2760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 Includes Full Board (FB) and Half Board (HB) options based on user preference and availability.​</a:t>
            </a:r>
          </a:p>
          <a:p>
            <a:pPr algn="l">
              <a:lnSpc>
                <a:spcPts val="2760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AED8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558583" y="227965"/>
            <a:ext cx="6527527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Des</a:t>
            </a:r>
            <a:r>
              <a:rPr lang="en-US" b="true" sz="51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ign Excellence​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26423" y="2007818"/>
            <a:ext cx="17412331" cy="814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Smart Personaliz</a:t>
            </a:r>
            <a:r>
              <a:rPr lang="en-US" sz="3000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ation​</a:t>
            </a:r>
          </a:p>
          <a:p>
            <a:pPr algn="l" marL="647700" indent="-323850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 AI analyzes user interests, budget, duration, and travel style to generate highly personalized itineraries.​</a:t>
            </a:r>
          </a:p>
          <a:p>
            <a:pPr algn="l" marL="647700" indent="-323850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Real-Time Adaptability​</a:t>
            </a:r>
          </a:p>
          <a:p>
            <a:pPr algn="l" marL="647700" indent="-323850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 Dynamic engine updates plans instantly based on weather, traffic, events, and attraction crowd levels to ensure smooth travel.​</a:t>
            </a:r>
          </a:p>
          <a:p>
            <a:pPr algn="l" marL="647700" indent="-323850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Hotel Intelligence​</a:t>
            </a:r>
          </a:p>
          <a:p>
            <a:pPr algn="l" marL="647700" indent="-323850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 Suggests nearby hotels with clear options such as full-board, half-board, or bed &amp; breakfast, tailored to user needs.​</a:t>
            </a:r>
          </a:p>
          <a:p>
            <a:pPr algn="l" marL="647700" indent="-323850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Context-Aware Optimization​</a:t>
            </a:r>
          </a:p>
          <a:p>
            <a:pPr algn="l" marL="647700" indent="-323850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 AI balances travel time, comfort, attraction suitability, and timing to create the most efficient experience.​</a:t>
            </a:r>
          </a:p>
          <a:p>
            <a:pPr algn="l" marL="647700" indent="-323850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Simple &amp; Accessible Design​</a:t>
            </a:r>
          </a:p>
          <a:p>
            <a:pPr algn="l" marL="647700" indent="-323850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 User-friendly interface, and clear visual itinerary flow for all traveler types.​</a:t>
            </a:r>
          </a:p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​</a:t>
            </a:r>
          </a:p>
          <a:p>
            <a:pPr algn="l">
              <a:lnSpc>
                <a:spcPts val="3600"/>
              </a:lnSpc>
            </a:pPr>
          </a:p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​</a:t>
            </a:r>
          </a:p>
          <a:p>
            <a:pPr algn="l">
              <a:lnSpc>
                <a:spcPts val="2850"/>
              </a:lnSpc>
            </a:pPr>
          </a:p>
        </p:txBody>
      </p:sp>
    </p:spTree>
  </p:cSld>
  <p:clrMapOvr>
    <a:masterClrMapping/>
  </p:clrMapOvr>
  <p:transition spd="fast">
    <p:push dir="d"/>
  </p:transition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AED8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-1088885" y="1527474"/>
            <a:ext cx="16253504" cy="12033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800"/>
              </a:lnSpc>
            </a:pPr>
            <a:r>
              <a:rPr lang="en-US" sz="70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</a:t>
            </a:r>
            <a:r>
              <a:rPr lang="en-US" b="true" sz="70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athsarani K K T     it22319838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403722" y="5540855"/>
            <a:ext cx="7195468" cy="2734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34150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Sma</a:t>
            </a:r>
            <a:r>
              <a:rPr lang="en-US" b="true" sz="5199">
                <a:solidFill>
                  <a:srgbClr val="34150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rt Safety &amp; Emergency Assistance System​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AED8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869085" y="1028700"/>
            <a:ext cx="8220024" cy="8479132"/>
            <a:chOff x="0" y="0"/>
            <a:chExt cx="6218167" cy="641417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30" y="34"/>
              <a:ext cx="6218136" cy="6414139"/>
            </a:xfrm>
            <a:custGeom>
              <a:avLst/>
              <a:gdLst/>
              <a:ahLst/>
              <a:cxnLst/>
              <a:rect r="r" b="b" t="t" l="l"/>
              <a:pathLst>
                <a:path h="6414139" w="6218136">
                  <a:moveTo>
                    <a:pt x="5932768" y="728819"/>
                  </a:moveTo>
                  <a:cubicBezTo>
                    <a:pt x="6089739" y="762982"/>
                    <a:pt x="6218137" y="922367"/>
                    <a:pt x="6218137" y="1083022"/>
                  </a:cubicBezTo>
                  <a:lnTo>
                    <a:pt x="6218137" y="6122039"/>
                  </a:lnTo>
                  <a:cubicBezTo>
                    <a:pt x="6218137" y="6282694"/>
                    <a:pt x="6086691" y="6414139"/>
                    <a:pt x="5926037" y="6414139"/>
                  </a:cubicBezTo>
                  <a:lnTo>
                    <a:pt x="233015" y="6414139"/>
                  </a:lnTo>
                  <a:cubicBezTo>
                    <a:pt x="72360" y="6414139"/>
                    <a:pt x="-29113" y="6286123"/>
                    <a:pt x="7463" y="6129786"/>
                  </a:cubicBezTo>
                  <a:lnTo>
                    <a:pt x="1360775" y="228947"/>
                  </a:lnTo>
                  <a:cubicBezTo>
                    <a:pt x="1397351" y="72483"/>
                    <a:pt x="1555847" y="-27466"/>
                    <a:pt x="1712819" y="6697"/>
                  </a:cubicBezTo>
                  <a:lnTo>
                    <a:pt x="5932768" y="728819"/>
                  </a:lnTo>
                  <a:close/>
                </a:path>
              </a:pathLst>
            </a:custGeom>
            <a:solidFill>
              <a:srgbClr val="D0EDE9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174023" y="1864943"/>
            <a:ext cx="11566736" cy="3714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500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Problem ​</a:t>
            </a:r>
          </a:p>
          <a:p>
            <a:pPr algn="l">
              <a:lnSpc>
                <a:spcPts val="3000"/>
              </a:lnSpc>
            </a:pPr>
            <a:r>
              <a:rPr lang="en-US" sz="2500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​</a:t>
            </a:r>
          </a:p>
          <a:p>
            <a:pPr algn="l" marL="539753" indent="-269876" lvl="1">
              <a:lnSpc>
                <a:spcPts val="3000"/>
              </a:lnSpc>
              <a:buFont typeface="Arial"/>
              <a:buChar char="•"/>
            </a:pPr>
            <a:r>
              <a:rPr lang="en-US" sz="2500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L</a:t>
            </a:r>
            <a:r>
              <a:rPr lang="en-US" sz="2500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ack of Real-Time Safety Awareness: Tourists are unaware of sudden dangers such as bad weather, traffic congestion, or emergencies in unfamiliar areas.​</a:t>
            </a:r>
          </a:p>
          <a:p>
            <a:pPr algn="l" marL="539753" indent="-269876" lvl="1">
              <a:lnSpc>
                <a:spcPts val="3000"/>
              </a:lnSpc>
              <a:buFont typeface="Arial"/>
              <a:buChar char="•"/>
            </a:pPr>
            <a:r>
              <a:rPr lang="en-US" sz="2500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Emergency Communication Challenges: Difficulty in sharing live location during emergencies.​</a:t>
            </a:r>
          </a:p>
          <a:p>
            <a:pPr algn="l" marL="539753" indent="-269876" lvl="1">
              <a:lnSpc>
                <a:spcPts val="3000"/>
              </a:lnSpc>
              <a:buFont typeface="Arial"/>
              <a:buChar char="•"/>
            </a:pPr>
            <a:r>
              <a:rPr lang="en-US" sz="2500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Limited Access to Critical Information: Medical details and emergency contacts are not easily accessible when urgent help is needed.​</a:t>
            </a:r>
          </a:p>
          <a:p>
            <a:pPr algn="l">
              <a:lnSpc>
                <a:spcPts val="2250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1406183" y="75565"/>
            <a:ext cx="6527527" cy="1811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</a:t>
            </a:r>
            <a:r>
              <a:rPr lang="en-US" b="true" sz="51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ain problem and Solution ​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03262" y="5570168"/>
            <a:ext cx="11108258" cy="424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The Solution​</a:t>
            </a:r>
          </a:p>
          <a:p>
            <a:pPr algn="l" marL="518160" indent="-25908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R</a:t>
            </a:r>
            <a:r>
              <a:rPr lang="en-US" sz="2400" u="none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eal</a:t>
            </a:r>
            <a:r>
              <a:rPr lang="en-US" sz="2400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-T</a:t>
            </a:r>
            <a:r>
              <a:rPr lang="en-US" sz="2400" u="none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i</a:t>
            </a:r>
            <a:r>
              <a:rPr lang="en-US" sz="2400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m</a:t>
            </a:r>
            <a:r>
              <a:rPr lang="en-US" sz="2400" u="none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e </a:t>
            </a:r>
            <a:r>
              <a:rPr lang="en-US" sz="2400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Loca</a:t>
            </a:r>
            <a:r>
              <a:rPr lang="en-US" sz="2400" u="none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ti</a:t>
            </a:r>
            <a:r>
              <a:rPr lang="en-US" sz="2400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o</a:t>
            </a:r>
            <a:r>
              <a:rPr lang="en-US" sz="2400" u="none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n</a:t>
            </a:r>
            <a:r>
              <a:rPr lang="en-US" sz="2400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 Sh</a:t>
            </a:r>
            <a:r>
              <a:rPr lang="en-US" sz="2400" u="none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aring</a:t>
            </a:r>
            <a:r>
              <a:rPr lang="en-US" sz="2400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:​</a:t>
            </a:r>
          </a:p>
          <a:p>
            <a:pPr algn="l" marL="518160" indent="-25908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 Allows tourists to share their live location with trusted contacts or emergency services for quick assistance.​</a:t>
            </a:r>
          </a:p>
          <a:p>
            <a:pPr algn="l" marL="518160" indent="-25908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S</a:t>
            </a:r>
            <a:r>
              <a:rPr lang="en-US" sz="2400" u="none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e</a:t>
            </a:r>
            <a:r>
              <a:rPr lang="en-US" sz="2400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cur</a:t>
            </a:r>
            <a:r>
              <a:rPr lang="en-US" sz="2400" u="none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e </a:t>
            </a:r>
            <a:r>
              <a:rPr lang="en-US" sz="2400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Em</a:t>
            </a:r>
            <a:r>
              <a:rPr lang="en-US" sz="2400" u="none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e</a:t>
            </a:r>
            <a:r>
              <a:rPr lang="en-US" sz="2400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rg</a:t>
            </a:r>
            <a:r>
              <a:rPr lang="en-US" sz="2400" u="none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en</a:t>
            </a:r>
            <a:r>
              <a:rPr lang="en-US" sz="2400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cy</a:t>
            </a:r>
            <a:r>
              <a:rPr lang="en-US" sz="2400" u="none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 </a:t>
            </a:r>
            <a:r>
              <a:rPr lang="en-US" sz="2400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&amp; Medical Access:​</a:t>
            </a:r>
          </a:p>
          <a:p>
            <a:pPr algn="l" marL="518160" indent="-25908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 Provides instant access to essent</a:t>
            </a:r>
            <a:r>
              <a:rPr lang="en-US" sz="2400" u="none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i</a:t>
            </a:r>
            <a:r>
              <a:rPr lang="en-US" sz="2400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al</a:t>
            </a:r>
            <a:r>
              <a:rPr lang="en-US" sz="2400" u="none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 medi</a:t>
            </a:r>
            <a:r>
              <a:rPr lang="en-US" sz="2400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cal</a:t>
            </a:r>
            <a:r>
              <a:rPr lang="en-US" sz="2400" u="none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 </a:t>
            </a:r>
            <a:r>
              <a:rPr lang="en-US" sz="2400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r</a:t>
            </a:r>
            <a:r>
              <a:rPr lang="en-US" sz="2400" u="none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e</a:t>
            </a:r>
            <a:r>
              <a:rPr lang="en-US" sz="2400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cords and emergency contact details during critical situations.​</a:t>
            </a:r>
          </a:p>
          <a:p>
            <a:pPr algn="l" marL="518160" indent="-25908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AI-B</a:t>
            </a:r>
            <a:r>
              <a:rPr lang="en-US" sz="2400" u="none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a</a:t>
            </a:r>
            <a:r>
              <a:rPr lang="en-US" sz="2400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sed</a:t>
            </a:r>
            <a:r>
              <a:rPr lang="en-US" sz="2400" u="none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 </a:t>
            </a:r>
            <a:r>
              <a:rPr lang="en-US" sz="2400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Risk Z</a:t>
            </a:r>
            <a:r>
              <a:rPr lang="en-US" sz="2400" u="none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o</a:t>
            </a:r>
            <a:r>
              <a:rPr lang="en-US" sz="2400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n</a:t>
            </a:r>
            <a:r>
              <a:rPr lang="en-US" sz="2400" u="none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e </a:t>
            </a:r>
            <a:r>
              <a:rPr lang="en-US" sz="2400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Pr</a:t>
            </a:r>
            <a:r>
              <a:rPr lang="en-US" sz="2400" u="none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e</a:t>
            </a:r>
            <a:r>
              <a:rPr lang="en-US" sz="2400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dic</a:t>
            </a:r>
            <a:r>
              <a:rPr lang="en-US" sz="2400" u="none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tion System</a:t>
            </a:r>
            <a:r>
              <a:rPr lang="en-US" sz="2400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:​</a:t>
            </a:r>
          </a:p>
          <a:p>
            <a:pPr algn="l" marL="518160" indent="-25908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 Analyzes real-time weather and traffic data to identify potentially unsafe or high-risk areas and alerts tourists in advance, enabling safer travel decisions.</a:t>
            </a:r>
          </a:p>
          <a:p>
            <a:pPr algn="l">
              <a:lnSpc>
                <a:spcPts val="2040"/>
              </a:lnSpc>
            </a:pP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1282281" y="2383120"/>
            <a:ext cx="6487511" cy="6393147"/>
          </a:xfrm>
          <a:custGeom>
            <a:avLst/>
            <a:gdLst/>
            <a:ahLst/>
            <a:cxnLst/>
            <a:rect r="r" b="b" t="t" l="l"/>
            <a:pathLst>
              <a:path h="6393147" w="6487511">
                <a:moveTo>
                  <a:pt x="0" y="0"/>
                </a:moveTo>
                <a:lnTo>
                  <a:pt x="6487511" y="0"/>
                </a:lnTo>
                <a:lnTo>
                  <a:pt x="6487511" y="6393146"/>
                </a:lnTo>
                <a:lnTo>
                  <a:pt x="0" y="63931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AED8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558583" y="227965"/>
            <a:ext cx="6527527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Des</a:t>
            </a:r>
            <a:r>
              <a:rPr lang="en-US" b="true" sz="51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ign Excellence​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26423" y="2007818"/>
            <a:ext cx="17412331" cy="7686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Real-Time Loc</a:t>
            </a:r>
            <a:r>
              <a:rPr lang="en-US" sz="3000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ation Sharing:​</a:t>
            </a:r>
          </a:p>
          <a:p>
            <a:pPr algn="l" marL="647700" indent="-323850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E</a:t>
            </a:r>
            <a:r>
              <a:rPr lang="en-US" sz="3000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nables tourists to securely share live GPS location with trusted contacts, tour guides, oremergency services.​</a:t>
            </a:r>
          </a:p>
          <a:p>
            <a:pPr algn="l" marL="647700" indent="-323850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Supports geofencing to trigger automatic alerts when users enter unfamiliar or restricted areas.​</a:t>
            </a:r>
          </a:p>
          <a:p>
            <a:pPr algn="l" marL="647700" indent="-323850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S</a:t>
            </a:r>
            <a:r>
              <a:rPr lang="en-US" sz="3000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ecure Medical Records &amp; Emergency Access:​</a:t>
            </a:r>
          </a:p>
          <a:p>
            <a:pPr algn="l" marL="647700" indent="-323850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Provides encrypted access to essential medical information (allergies, conditions, blood type)during emergencies.​</a:t>
            </a:r>
          </a:p>
          <a:p>
            <a:pPr algn="l" marL="647700" indent="-323850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Allows</a:t>
            </a:r>
            <a:r>
              <a:rPr lang="en-US" sz="3000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 quick retrieval of emergency contacts for faster response by healthcare providers orauthorities.​</a:t>
            </a:r>
          </a:p>
          <a:p>
            <a:pPr algn="l" marL="647700" indent="-323850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AI-Based Risk Zone Prediction System:​</a:t>
            </a:r>
          </a:p>
          <a:p>
            <a:pPr algn="l" marL="647700" indent="-323850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Uses</a:t>
            </a:r>
            <a:r>
              <a:rPr lang="en-US" sz="3000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 Machine Learning models to analyze real-time weather, traffic, and historical incidentdata.​</a:t>
            </a:r>
          </a:p>
          <a:p>
            <a:pPr algn="l" marL="647700" indent="-323850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Identifies high-risk zones such as flood-prone areas, traffic congestion hotspots, or unsafe regions.​</a:t>
            </a:r>
          </a:p>
          <a:p>
            <a:pPr algn="l" marL="647700" indent="-323850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Sends proactive alerts and safe-route recommendations to tourists in real time.​</a:t>
            </a:r>
          </a:p>
          <a:p>
            <a:pPr algn="l">
              <a:lnSpc>
                <a:spcPts val="2850"/>
              </a:lnSpc>
            </a:pPr>
          </a:p>
        </p:txBody>
      </p:sp>
    </p:spTree>
  </p:cSld>
  <p:clrMapOvr>
    <a:masterClrMapping/>
  </p:clrMapOvr>
  <p:transition spd="fast">
    <p:push dir="d"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AED8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61410" y="4226544"/>
            <a:ext cx="6978376" cy="4656480"/>
          </a:xfrm>
          <a:custGeom>
            <a:avLst/>
            <a:gdLst/>
            <a:ahLst/>
            <a:cxnLst/>
            <a:rect r="r" b="b" t="t" l="l"/>
            <a:pathLst>
              <a:path h="4656480" w="6978376">
                <a:moveTo>
                  <a:pt x="0" y="0"/>
                </a:moveTo>
                <a:lnTo>
                  <a:pt x="6978376" y="0"/>
                </a:lnTo>
                <a:lnTo>
                  <a:pt x="6978376" y="4656480"/>
                </a:lnTo>
                <a:lnTo>
                  <a:pt x="0" y="46564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-773682" y="885825"/>
            <a:ext cx="15565787" cy="2441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800"/>
              </a:lnSpc>
            </a:pPr>
            <a:r>
              <a:rPr lang="en-US" sz="70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Moragaspi</a:t>
            </a:r>
            <a:r>
              <a:rPr lang="en-US" b="true" sz="70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tiya M.R.K.A  </a:t>
            </a:r>
          </a:p>
          <a:p>
            <a:pPr algn="ctr">
              <a:lnSpc>
                <a:spcPts val="9800"/>
              </a:lnSpc>
            </a:pPr>
            <a:r>
              <a:rPr lang="en-US" b="true" sz="70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it22922052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403722" y="5540855"/>
            <a:ext cx="7195468" cy="4582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34150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</a:t>
            </a:r>
            <a:r>
              <a:rPr lang="en-US" b="true" sz="5199">
                <a:solidFill>
                  <a:srgbClr val="34150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ommunity Cultural Experience Marketplace​</a:t>
            </a:r>
          </a:p>
          <a:p>
            <a:pPr algn="ctr">
              <a:lnSpc>
                <a:spcPts val="7279"/>
              </a:lnSpc>
            </a:pPr>
            <a:r>
              <a:rPr lang="en-US" b="true" sz="5199">
                <a:solidFill>
                  <a:srgbClr val="34150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​</a:t>
            </a:r>
          </a:p>
          <a:p>
            <a:pPr algn="ctr">
              <a:lnSpc>
                <a:spcPts val="7279"/>
              </a:lnSpc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AED8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869085" y="1028700"/>
            <a:ext cx="8220024" cy="8479132"/>
            <a:chOff x="0" y="0"/>
            <a:chExt cx="6218167" cy="641417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30" y="34"/>
              <a:ext cx="6218136" cy="6414139"/>
            </a:xfrm>
            <a:custGeom>
              <a:avLst/>
              <a:gdLst/>
              <a:ahLst/>
              <a:cxnLst/>
              <a:rect r="r" b="b" t="t" l="l"/>
              <a:pathLst>
                <a:path h="6414139" w="6218136">
                  <a:moveTo>
                    <a:pt x="5932768" y="728819"/>
                  </a:moveTo>
                  <a:cubicBezTo>
                    <a:pt x="6089739" y="762982"/>
                    <a:pt x="6218137" y="922367"/>
                    <a:pt x="6218137" y="1083022"/>
                  </a:cubicBezTo>
                  <a:lnTo>
                    <a:pt x="6218137" y="6122039"/>
                  </a:lnTo>
                  <a:cubicBezTo>
                    <a:pt x="6218137" y="6282694"/>
                    <a:pt x="6086691" y="6414139"/>
                    <a:pt x="5926037" y="6414139"/>
                  </a:cubicBezTo>
                  <a:lnTo>
                    <a:pt x="233015" y="6414139"/>
                  </a:lnTo>
                  <a:cubicBezTo>
                    <a:pt x="72360" y="6414139"/>
                    <a:pt x="-29113" y="6286123"/>
                    <a:pt x="7463" y="6129786"/>
                  </a:cubicBezTo>
                  <a:lnTo>
                    <a:pt x="1360775" y="228947"/>
                  </a:lnTo>
                  <a:cubicBezTo>
                    <a:pt x="1397351" y="72483"/>
                    <a:pt x="1555847" y="-27466"/>
                    <a:pt x="1712819" y="6697"/>
                  </a:cubicBezTo>
                  <a:lnTo>
                    <a:pt x="5932768" y="728819"/>
                  </a:lnTo>
                  <a:close/>
                </a:path>
              </a:pathLst>
            </a:custGeom>
            <a:solidFill>
              <a:srgbClr val="D0EDE9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403262" y="1886585"/>
            <a:ext cx="11566736" cy="3714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500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Problem ​</a:t>
            </a:r>
          </a:p>
          <a:p>
            <a:pPr algn="l">
              <a:lnSpc>
                <a:spcPts val="3000"/>
              </a:lnSpc>
            </a:pPr>
            <a:r>
              <a:rPr lang="en-US" sz="2500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​</a:t>
            </a:r>
          </a:p>
          <a:p>
            <a:pPr algn="l" marL="539753" indent="-269876" lvl="1">
              <a:lnSpc>
                <a:spcPts val="3000"/>
              </a:lnSpc>
              <a:buFont typeface="Arial"/>
              <a:buChar char="•"/>
            </a:pPr>
            <a:r>
              <a:rPr lang="en-US" sz="2500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   C</a:t>
            </a:r>
            <a:r>
              <a:rPr lang="en-US" sz="2500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ommunication Gap: Difficulty in understanding deep cultural roots without a assistant.​</a:t>
            </a:r>
          </a:p>
          <a:p>
            <a:pPr algn="l" marL="539753" indent="-269876" lvl="1">
              <a:lnSpc>
                <a:spcPts val="3000"/>
              </a:lnSpc>
              <a:buFont typeface="Arial"/>
              <a:buChar char="•"/>
            </a:pPr>
            <a:r>
              <a:rPr lang="en-US" sz="2500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   Lack of Personalization: Generic travel plans that don't match individual interests.​</a:t>
            </a:r>
          </a:p>
          <a:p>
            <a:pPr algn="l" marL="539753" indent="-269876" lvl="1">
              <a:lnSpc>
                <a:spcPts val="3000"/>
              </a:lnSpc>
              <a:buFont typeface="Arial"/>
              <a:buChar char="•"/>
            </a:pPr>
            <a:r>
              <a:rPr lang="en-US" sz="2500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   </a:t>
            </a:r>
            <a:r>
              <a:rPr lang="en-US" sz="2500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Low Rural Visibility: Authentic village activities lacking digital presence and global reach.​</a:t>
            </a:r>
          </a:p>
          <a:p>
            <a:pPr algn="l">
              <a:lnSpc>
                <a:spcPts val="3000"/>
              </a:lnSpc>
            </a:pPr>
          </a:p>
          <a:p>
            <a:pPr algn="l">
              <a:lnSpc>
                <a:spcPts val="2250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1406183" y="75565"/>
            <a:ext cx="6527527" cy="1811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</a:t>
            </a:r>
            <a:r>
              <a:rPr lang="en-US" b="true" sz="51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ain problem and Solution ​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03262" y="5570168"/>
            <a:ext cx="11108258" cy="3886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The Solution​</a:t>
            </a:r>
          </a:p>
          <a:p>
            <a:pPr algn="l">
              <a:lnSpc>
                <a:spcPts val="2879"/>
              </a:lnSpc>
            </a:pPr>
          </a:p>
          <a:p>
            <a:pPr algn="l" marL="518160" indent="-25908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Int</a:t>
            </a:r>
            <a:r>
              <a:rPr lang="en-US" sz="2400" u="none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elligent</a:t>
            </a:r>
            <a:r>
              <a:rPr lang="en-US" sz="2400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 Gu</a:t>
            </a:r>
            <a:r>
              <a:rPr lang="en-US" sz="2400" u="none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idance</a:t>
            </a:r>
            <a:r>
              <a:rPr lang="en-US" sz="2400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: Voice-Guided Cultural Assistant for real-time learning.​</a:t>
            </a:r>
          </a:p>
          <a:p>
            <a:pPr algn="l" marL="518160" indent="-25908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Personalized Discovery: AI Recommender for seamless travel flow.​</a:t>
            </a:r>
          </a:p>
          <a:p>
            <a:pPr algn="l" marL="518160" indent="-25908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Im</a:t>
            </a:r>
            <a:r>
              <a:rPr lang="en-US" sz="2400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m</a:t>
            </a:r>
            <a:r>
              <a:rPr lang="en-US" sz="2400" u="none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e</a:t>
            </a:r>
            <a:r>
              <a:rPr lang="en-US" sz="2400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rsive Preview: 360° VR Immersive</a:t>
            </a:r>
            <a:r>
              <a:rPr lang="en-US" sz="2400" u="none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 Viewe</a:t>
            </a:r>
            <a:r>
              <a:rPr lang="en-US" sz="2400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r to experience activities virtually before booking.​</a:t>
            </a:r>
          </a:p>
          <a:p>
            <a:pPr algn="l" marL="518160" indent="-25908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D</a:t>
            </a:r>
            <a:r>
              <a:rPr lang="en-US" sz="2400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igital</a:t>
            </a:r>
            <a:r>
              <a:rPr lang="en-US" sz="2400" u="none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 </a:t>
            </a:r>
            <a:r>
              <a:rPr lang="en-US" sz="2400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Pr</a:t>
            </a:r>
            <a:r>
              <a:rPr lang="en-US" sz="2400" u="none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eservation: Moments time</a:t>
            </a:r>
            <a:r>
              <a:rPr lang="en-US" sz="2400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line for automated AI storytelling and social mediamarketing.</a:t>
            </a:r>
          </a:p>
          <a:p>
            <a:pPr algn="l">
              <a:lnSpc>
                <a:spcPts val="2879"/>
              </a:lnSpc>
            </a:pPr>
          </a:p>
          <a:p>
            <a:pPr algn="l">
              <a:lnSpc>
                <a:spcPts val="2040"/>
              </a:lnSpc>
            </a:pP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2634619" y="1812842"/>
            <a:ext cx="4399589" cy="7445458"/>
          </a:xfrm>
          <a:custGeom>
            <a:avLst/>
            <a:gdLst/>
            <a:ahLst/>
            <a:cxnLst/>
            <a:rect r="r" b="b" t="t" l="l"/>
            <a:pathLst>
              <a:path h="7445458" w="4399589">
                <a:moveTo>
                  <a:pt x="0" y="0"/>
                </a:moveTo>
                <a:lnTo>
                  <a:pt x="4399588" y="0"/>
                </a:lnTo>
                <a:lnTo>
                  <a:pt x="4399588" y="7445458"/>
                </a:lnTo>
                <a:lnTo>
                  <a:pt x="0" y="74454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AED8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558583" y="227965"/>
            <a:ext cx="6527527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Des</a:t>
            </a:r>
            <a:r>
              <a:rPr lang="en-US" b="true" sz="51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ign Excellence​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26423" y="2007818"/>
            <a:ext cx="17412331" cy="7229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Retrieval-Augmented Gener</a:t>
            </a:r>
            <a:r>
              <a:rPr lang="en-US" sz="3000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ation (RAG) Architecture:​</a:t>
            </a:r>
          </a:p>
          <a:p>
            <a:pPr algn="l" marL="647700" indent="-323850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U</a:t>
            </a:r>
            <a:r>
              <a:rPr lang="en-US" sz="3000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sed for the Voice Assistant to provide highly accurate, fact-based cultural information by connecting LLMs (Llama 4) to a curated Sri Lankan cultural knowledge base.​</a:t>
            </a:r>
          </a:p>
          <a:p>
            <a:pPr algn="l" marL="647700" indent="-323850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G</a:t>
            </a:r>
            <a:r>
              <a:rPr lang="en-US" sz="3000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enerative AI &amp; Computer Vision:​</a:t>
            </a:r>
          </a:p>
          <a:p>
            <a:pPr algn="l" marL="647700" indent="-323850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Llama 4 Vision: </a:t>
            </a:r>
            <a:r>
              <a:rPr lang="en-US" sz="3000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Powering the Moments feature to automatically identify cultural activities fromimages and generate context-aware narratives.​</a:t>
            </a:r>
          </a:p>
          <a:p>
            <a:pPr algn="l" marL="647700" indent="-323850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NLP for</a:t>
            </a:r>
            <a:r>
              <a:rPr lang="en-US" sz="3000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 Sentiment Analysis: Analyzing user feedback to refine and personalize future culturalrecommendations.​</a:t>
            </a:r>
          </a:p>
          <a:p>
            <a:pPr algn="l" marL="647700" indent="-323850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Context-</a:t>
            </a:r>
            <a:r>
              <a:rPr lang="en-US" sz="3000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Aware Intelligence:​</a:t>
            </a:r>
          </a:p>
          <a:p>
            <a:pPr algn="l" marL="647700" indent="-323850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Re</a:t>
            </a:r>
            <a:r>
              <a:rPr lang="en-US" sz="3000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al-time processing of GPS, Weather, and Schedule data to optimize the Dynamic Schedulingengine.​</a:t>
            </a:r>
          </a:p>
          <a:p>
            <a:pPr algn="l" marL="647700" indent="-323850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Immersive Media Technologies:​</a:t>
            </a:r>
          </a:p>
          <a:p>
            <a:pPr algn="l" marL="647700" indent="-323850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360° VR Rendering: Using advanced panoramic processing for immersive experience previews.​</a:t>
            </a:r>
          </a:p>
          <a:p>
            <a:pPr algn="l" marL="647700" indent="-323850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Speech-to-Text (STT) &amp; TTS: Low-latency voice processing for hands-free cultural learning.</a:t>
            </a:r>
          </a:p>
          <a:p>
            <a:pPr algn="l">
              <a:lnSpc>
                <a:spcPts val="2850"/>
              </a:lnSpc>
            </a:pPr>
          </a:p>
        </p:txBody>
      </p:sp>
    </p:spTree>
  </p:cSld>
  <p:clrMapOvr>
    <a:masterClrMapping/>
  </p:clrMapOvr>
  <p:transition spd="fast">
    <p:push dir="d"/>
  </p:transition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AED8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-773682" y="885825"/>
            <a:ext cx="15565787" cy="12033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800"/>
              </a:lnSpc>
            </a:pPr>
            <a:r>
              <a:rPr lang="en-US" sz="70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</a:t>
            </a:r>
            <a:r>
              <a:rPr lang="en-US" b="true" sz="70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t22575876 De soysa j c​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403722" y="5540855"/>
            <a:ext cx="7195468" cy="4582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34150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</a:t>
            </a:r>
            <a:r>
              <a:rPr lang="en-US" b="true" sz="5199">
                <a:solidFill>
                  <a:srgbClr val="34150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mart Heritage Guide and Historical Time Travel AR ​</a:t>
            </a:r>
          </a:p>
          <a:p>
            <a:pPr algn="ctr">
              <a:lnSpc>
                <a:spcPts val="7279"/>
              </a:lnSpc>
            </a:pPr>
            <a:r>
              <a:rPr lang="en-US" b="true" sz="5199">
                <a:solidFill>
                  <a:srgbClr val="34150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​</a:t>
            </a:r>
          </a:p>
          <a:p>
            <a:pPr algn="ctr">
              <a:lnSpc>
                <a:spcPts val="7279"/>
              </a:lnSpc>
            </a:pP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AED8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869085" y="1028700"/>
            <a:ext cx="8220024" cy="8479132"/>
            <a:chOff x="0" y="0"/>
            <a:chExt cx="6218167" cy="641417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30" y="34"/>
              <a:ext cx="6218136" cy="6414139"/>
            </a:xfrm>
            <a:custGeom>
              <a:avLst/>
              <a:gdLst/>
              <a:ahLst/>
              <a:cxnLst/>
              <a:rect r="r" b="b" t="t" l="l"/>
              <a:pathLst>
                <a:path h="6414139" w="6218136">
                  <a:moveTo>
                    <a:pt x="5932768" y="728819"/>
                  </a:moveTo>
                  <a:cubicBezTo>
                    <a:pt x="6089739" y="762982"/>
                    <a:pt x="6218137" y="922367"/>
                    <a:pt x="6218137" y="1083022"/>
                  </a:cubicBezTo>
                  <a:lnTo>
                    <a:pt x="6218137" y="6122039"/>
                  </a:lnTo>
                  <a:cubicBezTo>
                    <a:pt x="6218137" y="6282694"/>
                    <a:pt x="6086691" y="6414139"/>
                    <a:pt x="5926037" y="6414139"/>
                  </a:cubicBezTo>
                  <a:lnTo>
                    <a:pt x="233015" y="6414139"/>
                  </a:lnTo>
                  <a:cubicBezTo>
                    <a:pt x="72360" y="6414139"/>
                    <a:pt x="-29113" y="6286123"/>
                    <a:pt x="7463" y="6129786"/>
                  </a:cubicBezTo>
                  <a:lnTo>
                    <a:pt x="1360775" y="228947"/>
                  </a:lnTo>
                  <a:cubicBezTo>
                    <a:pt x="1397351" y="72483"/>
                    <a:pt x="1555847" y="-27466"/>
                    <a:pt x="1712819" y="6697"/>
                  </a:cubicBezTo>
                  <a:lnTo>
                    <a:pt x="5932768" y="728819"/>
                  </a:lnTo>
                  <a:close/>
                </a:path>
              </a:pathLst>
            </a:custGeom>
            <a:solidFill>
              <a:srgbClr val="D0EDE9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1406183" y="75565"/>
            <a:ext cx="6527527" cy="1811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</a:t>
            </a:r>
            <a:r>
              <a:rPr lang="en-US" b="true" sz="51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ain problem and Solution ​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0930600" y="2742913"/>
            <a:ext cx="7640712" cy="5673561"/>
          </a:xfrm>
          <a:custGeom>
            <a:avLst/>
            <a:gdLst/>
            <a:ahLst/>
            <a:cxnLst/>
            <a:rect r="r" b="b" t="t" l="l"/>
            <a:pathLst>
              <a:path h="5673561" w="7640712">
                <a:moveTo>
                  <a:pt x="0" y="0"/>
                </a:moveTo>
                <a:lnTo>
                  <a:pt x="7640711" y="0"/>
                </a:lnTo>
                <a:lnTo>
                  <a:pt x="7640711" y="5673561"/>
                </a:lnTo>
                <a:lnTo>
                  <a:pt x="0" y="567356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-24143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37835" y="2733388"/>
            <a:ext cx="17412331" cy="5400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The Issue: </a:t>
            </a:r>
          </a:p>
          <a:p>
            <a:pPr algn="l">
              <a:lnSpc>
                <a:spcPts val="3600"/>
              </a:lnSpc>
            </a:pPr>
          </a:p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  </a:t>
            </a:r>
            <a:r>
              <a:rPr lang="en-US" sz="3000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T</a:t>
            </a:r>
            <a:r>
              <a:rPr lang="en-US" sz="3000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ourists see only ruins and struggle to</a:t>
            </a:r>
          </a:p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 visualize theoriginal architecture.​</a:t>
            </a:r>
          </a:p>
          <a:p>
            <a:pPr algn="l">
              <a:lnSpc>
                <a:spcPts val="3600"/>
              </a:lnSpc>
            </a:pPr>
          </a:p>
          <a:p>
            <a:pPr algn="l" marL="647700" indent="-323850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Th</a:t>
            </a:r>
            <a:r>
              <a:rPr lang="en-US" sz="3000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e Solution:​</a:t>
            </a:r>
          </a:p>
          <a:p>
            <a:pPr algn="l">
              <a:lnSpc>
                <a:spcPts val="3600"/>
              </a:lnSpc>
            </a:pPr>
          </a:p>
          <a:p>
            <a:pPr algn="l" marL="647700" indent="-323850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     GPS T</a:t>
            </a:r>
            <a:r>
              <a:rPr lang="en-US" sz="3000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rigger: Automatically detects</a:t>
            </a:r>
            <a:r>
              <a:rPr lang="en-US" sz="3000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 </a:t>
            </a:r>
            <a:r>
              <a:rPr lang="en-US" sz="3000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the historical site.​</a:t>
            </a:r>
          </a:p>
          <a:p>
            <a:pPr algn="l" marL="647700" indent="-323850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     </a:t>
            </a:r>
            <a:r>
              <a:rPr lang="en-US" sz="3000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A</a:t>
            </a:r>
            <a:r>
              <a:rPr lang="en-US" sz="3000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R</a:t>
            </a:r>
            <a:r>
              <a:rPr lang="en-US" sz="3000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 Overlay: Superimposes the "Then" (Past) </a:t>
            </a:r>
          </a:p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view over the"Now" (Ruins) view in real-time.​</a:t>
            </a:r>
          </a:p>
          <a:p>
            <a:pPr algn="l">
              <a:lnSpc>
                <a:spcPts val="3600"/>
              </a:lnSpc>
            </a:pPr>
          </a:p>
          <a:p>
            <a:pPr algn="l">
              <a:lnSpc>
                <a:spcPts val="2850"/>
              </a:lnSpc>
            </a:pP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bg>
      <p:bgPr>
        <a:solidFill>
          <a:srgbClr val="AED8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558583" y="227965"/>
            <a:ext cx="6527527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Des</a:t>
            </a:r>
            <a:r>
              <a:rPr lang="en-US" b="true" sz="51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ign Excellence​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26423" y="5684768"/>
            <a:ext cx="17412331" cy="2657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2.</a:t>
            </a:r>
            <a:r>
              <a:rPr lang="en-US" sz="3000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 Contribu</a:t>
            </a:r>
            <a:r>
              <a:rPr lang="en-US" sz="3000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tion</a:t>
            </a:r>
            <a:r>
              <a:rPr lang="en-US" sz="3000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​</a:t>
            </a:r>
          </a:p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​</a:t>
            </a:r>
          </a:p>
          <a:p>
            <a:pPr algn="l" marL="647700" indent="-323850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Active Engagement:</a:t>
            </a:r>
            <a:r>
              <a:rPr lang="en-US" sz="3000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 Transforms passive sightseeing into an interactive "Time Travel" experience.</a:t>
            </a:r>
            <a:r>
              <a:rPr lang="en-US" sz="3000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​</a:t>
            </a:r>
          </a:p>
          <a:p>
            <a:pPr algn="l" marL="647700" indent="-323850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D</a:t>
            </a:r>
            <a:r>
              <a:rPr lang="en-US" sz="3000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igita</a:t>
            </a:r>
            <a:r>
              <a:rPr lang="en-US" sz="3000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l</a:t>
            </a:r>
            <a:r>
              <a:rPr lang="en-US" sz="3000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 Preservation:</a:t>
            </a:r>
            <a:r>
              <a:rPr lang="en-US" sz="3000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 Creates a mod</a:t>
            </a:r>
            <a:r>
              <a:rPr lang="en-US" sz="3000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ern</a:t>
            </a:r>
            <a:r>
              <a:rPr lang="en-US" sz="3000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 3D repository of Sri Lankan heritage sites.</a:t>
            </a:r>
          </a:p>
          <a:p>
            <a:pPr algn="l">
              <a:lnSpc>
                <a:spcPts val="2850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437835" y="2071177"/>
            <a:ext cx="17412331" cy="3571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1. </a:t>
            </a:r>
            <a:r>
              <a:rPr lang="en-US" sz="3000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Design Excelle</a:t>
            </a:r>
            <a:r>
              <a:rPr lang="en-US" sz="3000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nce</a:t>
            </a:r>
            <a:r>
              <a:rPr lang="en-US" sz="3000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​</a:t>
            </a:r>
          </a:p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​</a:t>
            </a:r>
          </a:p>
          <a:p>
            <a:pPr algn="l" marL="647700" indent="-323850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Hybr</a:t>
            </a:r>
            <a:r>
              <a:rPr lang="en-US" sz="3000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id Visualization: Seamlessly switches between AR View (overlay) and 3D Model View(interactive inspection).​</a:t>
            </a:r>
          </a:p>
          <a:p>
            <a:pPr algn="l" marL="647700" indent="-323850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Locat</a:t>
            </a:r>
            <a:r>
              <a:rPr lang="en-US" sz="3000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ion-Aware AI: The Chatbot is context-</a:t>
            </a:r>
            <a:r>
              <a:rPr lang="en-US" sz="3000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locked to</a:t>
            </a:r>
            <a:r>
              <a:rPr lang="en-US" sz="3000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 the user's GPS location (e.g., it knows youare at Sigiriya and answers accordingly).​</a:t>
            </a:r>
          </a:p>
          <a:p>
            <a:pPr algn="l" marL="647700" indent="-323850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Z</a:t>
            </a:r>
            <a:r>
              <a:rPr lang="en-US" sz="3000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ero-Search UI: Content</a:t>
            </a:r>
            <a:r>
              <a:rPr lang="en-US" sz="3000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 loads automatically based on location; no typing needed.</a:t>
            </a:r>
          </a:p>
          <a:p>
            <a:pPr algn="l">
              <a:lnSpc>
                <a:spcPts val="2850"/>
              </a:lnSpc>
            </a:pPr>
          </a:p>
        </p:txBody>
      </p:sp>
    </p:spTree>
  </p:cSld>
  <p:clrMapOvr>
    <a:masterClrMapping/>
  </p:clrMapOvr>
  <p:transition spd="fast">
    <p:push dir="d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DC20DB7DB36DD49BC8150064CF95DD9" ma:contentTypeVersion="13" ma:contentTypeDescription="Create a new document." ma:contentTypeScope="" ma:versionID="c48e4f147fbfcc35a76b22813172a650">
  <xsd:schema xmlns:xsd="http://www.w3.org/2001/XMLSchema" xmlns:xs="http://www.w3.org/2001/XMLSchema" xmlns:p="http://schemas.microsoft.com/office/2006/metadata/properties" xmlns:ns2="b315195e-671e-423b-bef2-4f1205612242" xmlns:ns3="db72c12f-87a4-44ab-bbc5-4cc8306b158a" targetNamespace="http://schemas.microsoft.com/office/2006/metadata/properties" ma:root="true" ma:fieldsID="348c77cf9af5ee6cf2ae546677978010" ns2:_="" ns3:_="">
    <xsd:import namespace="b315195e-671e-423b-bef2-4f1205612242"/>
    <xsd:import namespace="db72c12f-87a4-44ab-bbc5-4cc8306b158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BillingMetadata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315195e-671e-423b-bef2-4f120561224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description="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7c8a686f-bba2-44f2-819b-edf0b3003fb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19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Location" ma:index="20" nillable="true" ma:displayName="Location" ma:description="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b72c12f-87a4-44ab-bbc5-4cc8306b158a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4a90b710-f748-4220-b362-4102ae550bf9}" ma:internalName="TaxCatchAll" ma:showField="CatchAllData" ma:web="db72c12f-87a4-44ab-bbc5-4cc8306b158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b315195e-671e-423b-bef2-4f1205612242">
      <Terms xmlns="http://schemas.microsoft.com/office/infopath/2007/PartnerControls"/>
    </lcf76f155ced4ddcb4097134ff3c332f>
    <TaxCatchAll xmlns="db72c12f-87a4-44ab-bbc5-4cc8306b158a" xsi:nil="true"/>
  </documentManagement>
</p:properties>
</file>

<file path=customXml/itemProps1.xml><?xml version="1.0" encoding="utf-8"?>
<ds:datastoreItem xmlns:ds="http://schemas.openxmlformats.org/officeDocument/2006/customXml" ds:itemID="{3FE96E9D-5126-4533-B043-37316CA21013}"/>
</file>

<file path=customXml/itemProps2.xml><?xml version="1.0" encoding="utf-8"?>
<ds:datastoreItem xmlns:ds="http://schemas.openxmlformats.org/officeDocument/2006/customXml" ds:itemID="{1E0EF1CA-35F4-4C9C-808F-2C9E6F6037CF}"/>
</file>

<file path=customXml/itemProps3.xml><?xml version="1.0" encoding="utf-8"?>
<ds:datastoreItem xmlns:ds="http://schemas.openxmlformats.org/officeDocument/2006/customXml" ds:itemID="{6FB1A324-6290-40BB-B9F7-CD843D958995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CeylonMate - Smart Tourism Companion for Foreign Travelers in Sri Lanka ​</dc:title>
  <cp:revision>1</cp:revision>
  <dcterms:created xsi:type="dcterms:W3CDTF">2006-08-16T00:00:00Z</dcterms:created>
  <dcterms:modified xsi:type="dcterms:W3CDTF">2011-08-01T06:04:30Z</dcterms:modified>
  <dc:identifier>DAG8-4CMuKs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0x0101008DC20DB7DB36DD49BC8150064CF95DD9</vt:lpwstr>
  </property>
</Properties>
</file>