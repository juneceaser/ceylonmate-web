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195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A89EE0-3EDA-39FC-82FA-BCDE6AD2A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045"/>
            <a:ext cx="10515600" cy="845574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295D6A-0061-A3D9-6118-50FF80787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4773"/>
            <a:ext cx="10515600" cy="387391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83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26F36-F4C1-2BE6-2EAA-59A96487B5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C6266E-C04A-4781-8C35-A18F36C973F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E5129-3B05-E354-30F6-F8099E9C9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DA0F1-3494-D481-6805-9B673ECF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8204C7-EE79-46EE-98CE-40A34520697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F03119-DB34-28A6-297F-4CDF03E0F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045"/>
            <a:ext cx="10515600" cy="845574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73EF2DD-697E-9B3B-5887-960E9A5C3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4773"/>
            <a:ext cx="10515600" cy="387391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2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1FD1-6E84-312E-C9BF-40600BA7F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CECFE-707B-574E-B44D-0C7C71129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2269F-ED17-3275-B9C8-4FF02BEF6D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C6266E-C04A-4781-8C35-A18F36C973F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FDEE5-A2C5-5804-716A-90B660C28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6EC10-B006-5C71-470C-C8CCB6AD8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8204C7-EE79-46EE-98CE-40A3452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11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7AC26-20EF-D66C-3D10-9FE0B8E9B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2B7F3-0655-D1E0-74BB-7AB6B3456C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45D19-8AC1-95B5-A7BB-E1FD8E7F4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2FDB7-DCE1-06A7-88E0-9575B07A4A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C6266E-C04A-4781-8C35-A18F36C973F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60B75-6DF6-082F-D119-6E68C55CF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BBD68-F8B5-4C90-D96D-08423401D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8204C7-EE79-46EE-98CE-40A3452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64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6AE1C-5A4B-E9BE-6AE4-A73564C52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B4A22-EAC8-4C0B-0A3E-3BE770436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0E37CF-7BB3-5149-7D96-02487E4F9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9AD83-030C-CD08-0077-57229415C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61772D-189B-5E37-E8B2-A36D17D41F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7844ED-05C6-FD43-DBA6-636082B3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C6266E-C04A-4781-8C35-A18F36C973F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EDCCF4-97D6-257F-1E33-85E5C86DF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A0416F-91FE-7755-8E80-B7D810B9F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8204C7-EE79-46EE-98CE-40A3452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51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39DF6-20D1-EF55-D0DB-CDD0BD73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128DC-4395-CAC7-DE38-3CC5216E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C6266E-C04A-4781-8C35-A18F36C973F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AA24D2-6454-2BBF-F805-DEE8562D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7E533E-1A83-80B4-4587-F48FD0D8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8204C7-EE79-46EE-98CE-40A3452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57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F0C74-CDF1-B768-12EF-AAECBABD0F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C6266E-C04A-4781-8C35-A18F36C973F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78E802-EBDB-4E9A-AEAD-2F53D6685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9C55E-0290-F9B0-AB5D-9A2045765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8204C7-EE79-46EE-98CE-40A3452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40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07DFB-9651-EE62-8D1B-F62E4480F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33D6-DF9A-C6A5-D3D6-563D7FC4B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C8148-8070-97AA-3202-887C4044C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DFAD5-3BB2-AA11-BF5B-0A4B18076A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C6266E-C04A-4781-8C35-A18F36C973F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89886-D66F-37CB-B222-E74C8ABC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DE0F4-E65E-00CF-E7FC-6508134C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8204C7-EE79-46EE-98CE-40A3452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9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91238-45A5-14E2-84B9-499200535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CFE50A-4320-DE3B-33B0-7CACF2806A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94068-3D1A-E3A7-C059-041449822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F07ED-91E4-89D6-1477-AF36322E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C6266E-C04A-4781-8C35-A18F36C973F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EC557-0552-51D2-564A-F640261C8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9FA52-F316-FC73-74BB-D871247A4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8204C7-EE79-46EE-98CE-40A3452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67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27DA4-3A35-8A93-5F36-45640A4A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8A577-5647-09CA-C94C-3D4CF1631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D695D-A91F-BC7C-E90A-1318D935A5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C6266E-C04A-4781-8C35-A18F36C973F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8BB60-AAC0-1C76-4E7D-691304CA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519DD-7BC9-3690-E831-BA11B5E5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8204C7-EE79-46EE-98CE-40A3452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13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D33228-B4F2-68E2-59DA-2849FCB92B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C2D09-89A0-04FF-59DC-C54F9AF26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B9A69-5C9D-EEA3-99A6-5F7A11F7D0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C6266E-C04A-4781-8C35-A18F36C973F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40A66-C15B-0EE4-6997-12F59B52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44E87-FA4D-692E-7A18-CD673A0E7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8204C7-EE79-46EE-98CE-40A345206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487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3EA4A-435D-CCC5-09D8-5F1BE3083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90886-6F39-DCD5-30D9-3899793D9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D9B32-43C0-90A1-AC91-FD95B1F46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1002-A518-499E-A859-D72C056D25C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988D0-BCE6-E40E-C326-D0C6C1026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20DEA-E740-9EBA-5814-20AECB322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5D31-DA29-45DE-A149-E63236EBF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88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0BA6B-9CC1-0D85-2CF8-331F52622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C8E71-E108-27A0-5D88-3C08306D2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4D79A-622A-E7BE-21F3-DDAA2A011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1002-A518-499E-A859-D72C056D25C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C835F-69D7-9AC5-F6D5-479C023BB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89E39-855B-6CA8-C483-BF2696D64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5D31-DA29-45DE-A149-E63236EBF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778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869D4-BFD4-DBFD-49DC-A340C85B1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31C48-6302-08D0-EFF5-114BCC185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572B3-5E0E-8DF1-9350-8F337B6CB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1002-A518-499E-A859-D72C056D25C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B855B-0B66-1AE3-089A-A4B28190B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D1B4B-53DD-4995-F910-F390A60E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5D31-DA29-45DE-A149-E63236EBF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70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79D2-FC4F-EAB3-5B86-CA5E18E2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716D8-0AF7-4E58-6F97-13373C949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99BC8-CC5D-F0B2-FDDE-11029C573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36EEB-0B7E-99FA-D721-433782285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1002-A518-499E-A859-D72C056D25C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ABCC3-68DA-CA70-58E0-EAF32305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A1EF8-CD86-AF3F-D8E1-494DB4390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5D31-DA29-45DE-A149-E63236EBF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56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9A398-36E3-226D-E2C0-F2D08ED71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A0193-EC9C-BB4F-0AF7-B06BCFF69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BE690-824C-7D57-350C-FA3344E25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96AFF-7FA7-1D0A-10DB-BBA0CC3AC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8253A5-31BD-F2BA-B9FE-8F818EC4EE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CAA5F5-E9EA-9480-AF57-1A98196B5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1002-A518-499E-A859-D72C056D25C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1A9C8-D2F3-60F6-B7F2-6BD52BB70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4AB5B-7799-8047-1916-B634608C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5D31-DA29-45DE-A149-E63236EBF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43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DE3EC-9FAE-5507-B707-73EB3C907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278650-1034-45ED-BA73-EC3D5580E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1002-A518-499E-A859-D72C056D25C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62A2A9-C5A9-29A5-6402-7704303B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36D8D-889B-C1A6-7E9A-4C86C532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5D31-DA29-45DE-A149-E63236EBF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924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F78838-5731-B37F-A2C5-7F93CD06D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1002-A518-499E-A859-D72C056D25C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049008-6313-6C7F-104A-00C592838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1A539-A508-CC2C-C426-DC7541470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5D31-DA29-45DE-A149-E63236EBF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540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8E377-CF2F-7C4C-DAD0-E7A2203EB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C95E2-31EE-DC28-1BBC-7BC297721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F3131-1D42-0BA8-C706-62FB0BF51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FEDF8-9530-4855-1439-4CC68CD87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1002-A518-499E-A859-D72C056D25C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3F26-9262-E292-53BE-B95672AE2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5B389-0831-6369-47CD-42EB61FCF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5D31-DA29-45DE-A149-E63236EBF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405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11893-70E6-369F-4E20-80EE68BE6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6DB74A-9F61-312F-1704-10EDD3DBBF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BB080-7FBE-E109-09FB-12F018D24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D0271-B061-16EF-CBF8-22004B8CE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1002-A518-499E-A859-D72C056D25C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51256-4647-2DCC-209F-5B680AED9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3CBF0-8865-C698-6437-00378D0A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5D31-DA29-45DE-A149-E63236EBF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1473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A0DA-3D84-693D-B60F-A72A773F7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07DE0-363C-8599-5B09-D5BA1899B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CD113-886E-B466-1E28-9FE25F648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1002-A518-499E-A859-D72C056D25C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11847-6B4A-40C8-7675-1FBCB82DA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412FE-6758-C8CE-B162-0030B60D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5D31-DA29-45DE-A149-E63236EBF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481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DA739C-57D1-08F4-8CB0-7DF544A6E2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7FD2C-FDF9-B0C8-0DE2-D922284A3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B1CD2-79C2-F35B-F7ED-59BB64C4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1002-A518-499E-A859-D72C056D25C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357CE-830B-4178-A848-EDC5D6540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7419E-DACF-6074-5C9D-D9F565633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A5D31-DA29-45DE-A149-E63236EBF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44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37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301F3-FD82-4DBD-5D85-6E3C367A6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08F4F-3BE3-67A0-1FD9-530EA96F9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E8148-289C-0733-CBC5-2390275E0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71002-A518-499E-A859-D72C056D25C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58E9D-AA9A-A2E5-D32A-B02793D37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A49F1-409C-FCD1-92AB-E453601E5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A5D31-DA29-45DE-A149-E63236EBF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48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F19FE28-3B11-B2DC-BB2A-A16BFCC654D1}"/>
              </a:ext>
            </a:extLst>
          </p:cNvPr>
          <p:cNvSpPr txBox="1">
            <a:spLocks/>
          </p:cNvSpPr>
          <p:nvPr/>
        </p:nvSpPr>
        <p:spPr>
          <a:xfrm>
            <a:off x="4316361" y="271308"/>
            <a:ext cx="8052620" cy="2793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3A1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CeylonMate</a:t>
            </a:r>
            <a:r>
              <a:rPr lang="en-US" b="1" dirty="0">
                <a:solidFill>
                  <a:srgbClr val="3A1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Smart Tourism Companion for</a:t>
            </a:r>
          </a:p>
          <a:p>
            <a:r>
              <a:rPr lang="en-US" b="1" dirty="0">
                <a:solidFill>
                  <a:srgbClr val="3A19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Travelers in Sri Lanka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7228B5-CDE4-4DA0-6754-AC0256D48FB8}"/>
              </a:ext>
            </a:extLst>
          </p:cNvPr>
          <p:cNvSpPr txBox="1"/>
          <p:nvPr/>
        </p:nvSpPr>
        <p:spPr>
          <a:xfrm>
            <a:off x="6184490" y="3413367"/>
            <a:ext cx="5132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A1953"/>
                </a:solidFill>
              </a:rPr>
              <a:t>J.C.D.Soysa</a:t>
            </a:r>
            <a:r>
              <a:rPr lang="en-US" baseline="30000" dirty="0">
                <a:solidFill>
                  <a:srgbClr val="3A1953"/>
                </a:solidFill>
              </a:rPr>
              <a:t>1</a:t>
            </a:r>
            <a:r>
              <a:rPr lang="en-US" dirty="0">
                <a:solidFill>
                  <a:srgbClr val="3A1953"/>
                </a:solidFill>
              </a:rPr>
              <a:t>, K.K.T.Thathsarani</a:t>
            </a:r>
            <a:r>
              <a:rPr lang="en-US" baseline="30000" dirty="0">
                <a:solidFill>
                  <a:srgbClr val="3A1953"/>
                </a:solidFill>
              </a:rPr>
              <a:t>2</a:t>
            </a:r>
            <a:r>
              <a:rPr lang="en-US" dirty="0">
                <a:solidFill>
                  <a:srgbClr val="3A1953"/>
                </a:solidFill>
              </a:rPr>
              <a:t>, J.W.P.D Pathiraja</a:t>
            </a:r>
            <a:r>
              <a:rPr lang="en-US" baseline="30000" dirty="0">
                <a:solidFill>
                  <a:srgbClr val="3A1953"/>
                </a:solidFill>
              </a:rPr>
              <a:t>3 </a:t>
            </a:r>
            <a:r>
              <a:rPr lang="en-US" dirty="0">
                <a:solidFill>
                  <a:srgbClr val="3A1953"/>
                </a:solidFill>
              </a:rPr>
              <a:t>M.R.K.A Moragaspitiya</a:t>
            </a:r>
            <a:r>
              <a:rPr lang="en-US" baseline="30000" dirty="0">
                <a:solidFill>
                  <a:srgbClr val="3A1953"/>
                </a:solidFill>
              </a:rPr>
              <a:t>4</a:t>
            </a:r>
            <a:r>
              <a:rPr lang="en-US" dirty="0">
                <a:solidFill>
                  <a:srgbClr val="3A1953"/>
                </a:solidFill>
              </a:rPr>
              <a:t>, </a:t>
            </a:r>
            <a:r>
              <a:rPr lang="en-US" dirty="0" err="1">
                <a:solidFill>
                  <a:srgbClr val="3A1953"/>
                </a:solidFill>
              </a:rPr>
              <a:t>Buddika</a:t>
            </a:r>
            <a:r>
              <a:rPr lang="en-US" dirty="0">
                <a:solidFill>
                  <a:srgbClr val="3A1953"/>
                </a:solidFill>
              </a:rPr>
              <a:t> Harshanath</a:t>
            </a:r>
            <a:r>
              <a:rPr lang="en-US" baseline="30000" dirty="0">
                <a:solidFill>
                  <a:srgbClr val="3A1953"/>
                </a:solidFill>
              </a:rPr>
              <a:t>5</a:t>
            </a:r>
            <a:r>
              <a:rPr lang="en-US" dirty="0">
                <a:solidFill>
                  <a:srgbClr val="3A1953"/>
                </a:solidFill>
              </a:rPr>
              <a:t>, N.C.P.Kumarapperuma</a:t>
            </a:r>
            <a:r>
              <a:rPr lang="en-US" baseline="30000" dirty="0">
                <a:solidFill>
                  <a:srgbClr val="3A1953"/>
                </a:solidFill>
              </a:rPr>
              <a:t>6</a:t>
            </a:r>
            <a:endParaRPr lang="en-US" dirty="0">
              <a:solidFill>
                <a:srgbClr val="3A195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1D87D-A524-5DE2-3596-62BEBC39325C}"/>
              </a:ext>
            </a:extLst>
          </p:cNvPr>
          <p:cNvSpPr txBox="1"/>
          <p:nvPr/>
        </p:nvSpPr>
        <p:spPr>
          <a:xfrm>
            <a:off x="6184490" y="4663657"/>
            <a:ext cx="4994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>
                <a:solidFill>
                  <a:srgbClr val="3A1953"/>
                </a:solidFill>
              </a:rPr>
              <a:t>1,2,3,4,5,6</a:t>
            </a:r>
            <a:r>
              <a:rPr lang="en-US" dirty="0">
                <a:solidFill>
                  <a:srgbClr val="3A1953"/>
                </a:solidFill>
              </a:rPr>
              <a:t>Department of Information Technology Sri Lanka Institute of Information Technology, Sri Lanka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00FBF0-42A1-45F5-5722-E3DEDA0B939D}"/>
              </a:ext>
            </a:extLst>
          </p:cNvPr>
          <p:cNvSpPr txBox="1"/>
          <p:nvPr/>
        </p:nvSpPr>
        <p:spPr>
          <a:xfrm>
            <a:off x="6951407" y="5636949"/>
            <a:ext cx="343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A1953"/>
                </a:solidFill>
              </a:rPr>
              <a:t>Presenting Author :  J C D Soysa </a:t>
            </a:r>
          </a:p>
        </p:txBody>
      </p:sp>
    </p:spTree>
    <p:extLst>
      <p:ext uri="{BB962C8B-B14F-4D97-AF65-F5344CB8AC3E}">
        <p14:creationId xmlns:p14="http://schemas.microsoft.com/office/powerpoint/2010/main" val="2645136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B4DC4-E3D2-7442-137C-51C7EF52C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111DD-6D7C-696E-C130-14F509BDC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Current State:</a:t>
            </a:r>
            <a:r>
              <a:rPr lang="en-US" dirty="0"/>
              <a:t> Travelers demand personalized, safe, and efficient journeys. </a:t>
            </a:r>
          </a:p>
          <a:p>
            <a:r>
              <a:rPr lang="en-US" b="1" dirty="0"/>
              <a:t>The Gap:</a:t>
            </a:r>
            <a:r>
              <a:rPr lang="en-US" dirty="0"/>
              <a:t> Existing solutions are "siloed"—static apps that lack end-to-end integration </a:t>
            </a:r>
          </a:p>
          <a:p>
            <a:r>
              <a:rPr lang="en-US" b="1" dirty="0"/>
              <a:t>Sri Lanka's Challenge:</a:t>
            </a:r>
            <a:r>
              <a:rPr lang="en-US" dirty="0"/>
              <a:t> Rich cultural heritage vs. Information Asymmetry &amp; Safety concerns.</a:t>
            </a:r>
          </a:p>
          <a:p>
            <a:r>
              <a:rPr lang="en-US" b="1" dirty="0"/>
              <a:t>The Need:</a:t>
            </a:r>
            <a:r>
              <a:rPr lang="en-US" dirty="0"/>
              <a:t> A proactive, context-aware ecosystem, not just a digital catalog.</a:t>
            </a:r>
          </a:p>
        </p:txBody>
      </p:sp>
    </p:spTree>
    <p:extLst>
      <p:ext uri="{BB962C8B-B14F-4D97-AF65-F5344CB8AC3E}">
        <p14:creationId xmlns:p14="http://schemas.microsoft.com/office/powerpoint/2010/main" val="1729373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82F74-60C8-DE43-DFFC-CA60BB1E7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Research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51E89-A23B-0DCE-B95D-CB3427AA8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Static itinerary planning</a:t>
            </a:r>
          </a:p>
          <a:p>
            <a:pPr marL="0" indent="0">
              <a:buNone/>
            </a:pPr>
            <a:r>
              <a:rPr lang="en-US" dirty="0"/>
              <a:t>• Reactive safety systems</a:t>
            </a:r>
          </a:p>
          <a:p>
            <a:pPr marL="0" indent="0">
              <a:buNone/>
            </a:pPr>
            <a:r>
              <a:rPr lang="en-US" dirty="0"/>
              <a:t>• Limited cultural integration</a:t>
            </a:r>
          </a:p>
          <a:p>
            <a:pPr marL="0" indent="0">
              <a:buNone/>
            </a:pPr>
            <a:r>
              <a:rPr lang="en-US" dirty="0"/>
              <a:t>• Poor historical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3581805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356B2-ED0C-3B5C-2A0F-23418A4D0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Proposed Solution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2246A2-A634-750B-D9F8-B137BEC8E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926" y="1655719"/>
            <a:ext cx="8211925" cy="428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1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EAF0-2E94-CA88-BB61-A002A0A1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045"/>
            <a:ext cx="11353800" cy="84557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Module 1 - Dynamic Itinerary Planning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87842-5A24-7F80-9298-3FA5776DC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9238"/>
            <a:ext cx="10527890" cy="3873911"/>
          </a:xfrm>
        </p:spPr>
        <p:txBody>
          <a:bodyPr/>
          <a:lstStyle/>
          <a:p>
            <a:r>
              <a:rPr lang="en-US" b="1" dirty="0"/>
              <a:t>Objective:</a:t>
            </a:r>
            <a:r>
              <a:rPr lang="en-US" dirty="0"/>
              <a:t> Solve Tourist Trip Design Problem (TTDP) in real-time.</a:t>
            </a:r>
          </a:p>
          <a:p>
            <a:r>
              <a:rPr lang="pt-BR" b="1" dirty="0"/>
              <a:t>Algorithm:</a:t>
            </a:r>
            <a:r>
              <a:rPr lang="pt-BR" dirty="0"/>
              <a:t> Multi-Objective Genetic Algorithm (MOGA).</a:t>
            </a:r>
          </a:p>
          <a:p>
            <a:r>
              <a:rPr lang="en-US" b="1" dirty="0"/>
              <a:t>Key Inputs:</a:t>
            </a:r>
            <a:r>
              <a:rPr lang="en-US" dirty="0"/>
              <a:t> User preferences + Real-time Weather + Traffic.</a:t>
            </a:r>
          </a:p>
          <a:p>
            <a:r>
              <a:rPr lang="en-US" b="1" dirty="0"/>
              <a:t>Unique Feature:</a:t>
            </a:r>
            <a:r>
              <a:rPr lang="en-US" dirty="0"/>
              <a:t> Optimizes for </a:t>
            </a:r>
            <a:r>
              <a:rPr lang="en-US" b="1" dirty="0"/>
              <a:t>Fatigue Management</a:t>
            </a:r>
            <a:r>
              <a:rPr lang="en-US" dirty="0"/>
              <a:t> and re-routes during rain.</a:t>
            </a:r>
          </a:p>
        </p:txBody>
      </p:sp>
    </p:spTree>
    <p:extLst>
      <p:ext uri="{BB962C8B-B14F-4D97-AF65-F5344CB8AC3E}">
        <p14:creationId xmlns:p14="http://schemas.microsoft.com/office/powerpoint/2010/main" val="1116214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4B47C-D3D8-E351-8F04-217511D56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Module 2 - Intelligent Safety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340B4-C41A-E9A1-5B36-48AE19998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Preventive:</a:t>
            </a:r>
            <a:r>
              <a:rPr lang="en-US" dirty="0"/>
              <a:t> </a:t>
            </a:r>
            <a:r>
              <a:rPr lang="en-US" dirty="0" err="1"/>
              <a:t>Spatio</a:t>
            </a:r>
            <a:r>
              <a:rPr lang="en-US" dirty="0"/>
              <a:t>-Temporal Risk Analysis (predicts protests, floods from news feeds).</a:t>
            </a:r>
          </a:p>
          <a:p>
            <a:r>
              <a:rPr lang="en-US" b="1" dirty="0"/>
              <a:t>Reactive (Offline-First):</a:t>
            </a:r>
            <a:r>
              <a:rPr lang="en-US" dirty="0"/>
              <a:t> Kinematic Anomaly Detector.</a:t>
            </a:r>
          </a:p>
          <a:p>
            <a:pPr marL="0" indent="0">
              <a:buNone/>
            </a:pPr>
            <a:r>
              <a:rPr lang="en-US" dirty="0"/>
              <a:t>                   Detects falls using accelerometer/gyroscope.</a:t>
            </a:r>
          </a:p>
          <a:p>
            <a:pPr marL="0" indent="0">
              <a:buNone/>
            </a:pPr>
            <a:r>
              <a:rPr lang="en-US" b="1" dirty="0"/>
              <a:t>                   Offline Protocol:</a:t>
            </a:r>
            <a:r>
              <a:rPr lang="en-US" dirty="0"/>
              <a:t> SMS fallback with GPS coordinates.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227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6024-B371-EC4E-2484-BBDC0323C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Module 3 - Cultural Marketplace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BD50A-84F8-31BD-C3C8-E5323118A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Pre-Trip Trust:</a:t>
            </a:r>
            <a:r>
              <a:rPr lang="en-US" dirty="0"/>
              <a:t> "Virtual Experience Viewer" (360° VR) to reduce uncertainty.</a:t>
            </a:r>
          </a:p>
          <a:p>
            <a:r>
              <a:rPr lang="en-US" b="1" dirty="0"/>
              <a:t>Post-Trip Engagement:</a:t>
            </a:r>
            <a:r>
              <a:rPr lang="en-US" dirty="0"/>
              <a:t> "Moments Social Engine".</a:t>
            </a:r>
          </a:p>
          <a:p>
            <a:pPr marL="0" indent="0">
              <a:buNone/>
            </a:pPr>
            <a:r>
              <a:rPr lang="en-US" dirty="0"/>
              <a:t>                               AI curates photos for aesthetics.</a:t>
            </a:r>
          </a:p>
          <a:p>
            <a:pPr marL="0" indent="0">
              <a:buNone/>
            </a:pPr>
            <a:r>
              <a:rPr lang="en-US" dirty="0"/>
              <a:t>                               Generates captions/hashtags using LLMs.</a:t>
            </a:r>
          </a:p>
          <a:p>
            <a:pPr marL="0" indent="0">
              <a:buNone/>
            </a:pPr>
            <a:r>
              <a:rPr lang="en-US" dirty="0"/>
              <a:t>                               Creates verified "Moments Cards" for sharing.</a:t>
            </a:r>
          </a:p>
        </p:txBody>
      </p:sp>
    </p:spTree>
    <p:extLst>
      <p:ext uri="{BB962C8B-B14F-4D97-AF65-F5344CB8AC3E}">
        <p14:creationId xmlns:p14="http://schemas.microsoft.com/office/powerpoint/2010/main" val="712727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AEE8F-C145-301D-3B89-B1269E624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Module 4 - AR Discovery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FFFA9-2068-1BE7-0CBB-A3E1575C7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Tech Stack:</a:t>
            </a:r>
            <a:r>
              <a:rPr lang="en-US" dirty="0"/>
              <a:t> Neo4j Knowledge Graph + Google Geospatial Creator (VPS).</a:t>
            </a:r>
          </a:p>
          <a:p>
            <a:r>
              <a:rPr lang="en-US" b="1" dirty="0"/>
              <a:t>Feature:</a:t>
            </a:r>
            <a:r>
              <a:rPr lang="en-US" dirty="0"/>
              <a:t> </a:t>
            </a:r>
            <a:r>
              <a:rPr lang="en-US" dirty="0" err="1"/>
              <a:t>Markerless</a:t>
            </a:r>
            <a:r>
              <a:rPr lang="en-US" dirty="0"/>
              <a:t> In-Situ AR Reconstruction.</a:t>
            </a:r>
          </a:p>
          <a:p>
            <a:r>
              <a:rPr lang="en-US" b="1" dirty="0"/>
              <a:t>Innovation:</a:t>
            </a:r>
            <a:r>
              <a:rPr lang="en-US" dirty="0"/>
              <a:t> Semantic Knowledge Graph connects sites (e.g., "Built By") for storytelling.</a:t>
            </a:r>
          </a:p>
          <a:p>
            <a:r>
              <a:rPr lang="en-US" b="1" dirty="0"/>
              <a:t>Realism:</a:t>
            </a:r>
            <a:r>
              <a:rPr lang="en-US" dirty="0"/>
              <a:t> Occlusion handling for realistic blending.</a:t>
            </a:r>
          </a:p>
        </p:txBody>
      </p:sp>
    </p:spTree>
    <p:extLst>
      <p:ext uri="{BB962C8B-B14F-4D97-AF65-F5344CB8AC3E}">
        <p14:creationId xmlns:p14="http://schemas.microsoft.com/office/powerpoint/2010/main" val="1533010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631A5-126A-BF9C-F4AA-85F6E9469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Results &amp; Evaluation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728EC-BEE0-D33D-8080-A956D94CA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Planner:</a:t>
            </a:r>
            <a:r>
              <a:rPr lang="en-US" dirty="0"/>
              <a:t> </a:t>
            </a:r>
            <a:r>
              <a:rPr lang="en-US" b="1" dirty="0"/>
              <a:t>95% success</a:t>
            </a:r>
            <a:r>
              <a:rPr lang="en-US" dirty="0"/>
              <a:t> in proactive rerouting (4.2s execution time).</a:t>
            </a:r>
          </a:p>
          <a:p>
            <a:r>
              <a:rPr lang="en-US" b="1" dirty="0"/>
              <a:t>Safety:</a:t>
            </a:r>
            <a:r>
              <a:rPr lang="en-US" dirty="0"/>
              <a:t> </a:t>
            </a:r>
            <a:r>
              <a:rPr lang="en-US" b="1" dirty="0"/>
              <a:t>93.3% accuracy</a:t>
            </a:r>
            <a:r>
              <a:rPr lang="en-US" dirty="0"/>
              <a:t> in Fall Detection; </a:t>
            </a:r>
            <a:r>
              <a:rPr lang="en-US" b="1" dirty="0"/>
              <a:t>90% reliability</a:t>
            </a:r>
            <a:r>
              <a:rPr lang="en-US" dirty="0"/>
              <a:t> in offline SMS (Knuckles Range test).</a:t>
            </a:r>
          </a:p>
          <a:p>
            <a:r>
              <a:rPr lang="en-US" b="1" dirty="0"/>
              <a:t>User Satisfaction:</a:t>
            </a:r>
            <a:r>
              <a:rPr lang="en-US" dirty="0"/>
              <a:t> </a:t>
            </a:r>
            <a:r>
              <a:rPr lang="en-US" b="1" dirty="0"/>
              <a:t>92%</a:t>
            </a:r>
            <a:r>
              <a:rPr lang="en-US" dirty="0"/>
              <a:t> satisfaction with itinerary planning.</a:t>
            </a:r>
          </a:p>
          <a:p>
            <a:r>
              <a:rPr lang="en-US" b="1" dirty="0"/>
              <a:t>Cultural:</a:t>
            </a:r>
            <a:r>
              <a:rPr lang="en-US" dirty="0"/>
              <a:t> </a:t>
            </a:r>
            <a:r>
              <a:rPr lang="en-US" b="1" dirty="0"/>
              <a:t>4.8/5</a:t>
            </a:r>
            <a:r>
              <a:rPr lang="en-US" dirty="0"/>
              <a:t> score for perceived authenticity.</a:t>
            </a:r>
          </a:p>
          <a:p>
            <a:r>
              <a:rPr lang="en-US" b="1" dirty="0"/>
              <a:t>AR Discovery: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Stable VPS tracking at heritage sites.</a:t>
            </a:r>
          </a:p>
          <a:p>
            <a:pPr marL="0" indent="0">
              <a:buNone/>
            </a:pPr>
            <a:r>
              <a:rPr lang="en-US" dirty="0"/>
              <a:t>                              4.8/5 educational value from knowledge graph.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600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60A5C-7D4E-F7E8-BDE9-4EEBE6BB6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Comparison with Existing Solutions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EC85E-DCA0-0A32-CC95-F3C9FCAC9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Itinerary:</a:t>
            </a:r>
            <a:r>
              <a:rPr lang="en-US" dirty="0"/>
              <a:t> Static Routing → </a:t>
            </a:r>
            <a:r>
              <a:rPr lang="en-US" b="1" dirty="0"/>
              <a:t>Dynamic MOGA Optimization</a:t>
            </a:r>
          </a:p>
          <a:p>
            <a:r>
              <a:rPr lang="en-US" i="1" dirty="0"/>
              <a:t>Safety:</a:t>
            </a:r>
            <a:r>
              <a:rPr lang="en-US" dirty="0"/>
              <a:t> Reactive Calls → </a:t>
            </a:r>
            <a:r>
              <a:rPr lang="en-US" b="1" dirty="0"/>
              <a:t>Predictive Risk &amp; Offline Fallback</a:t>
            </a:r>
          </a:p>
          <a:p>
            <a:r>
              <a:rPr lang="en-US" i="1" dirty="0"/>
              <a:t>History:</a:t>
            </a:r>
            <a:r>
              <a:rPr lang="en-US" dirty="0"/>
              <a:t> Audio Guides → </a:t>
            </a:r>
            <a:r>
              <a:rPr lang="en-US" b="1" dirty="0" err="1"/>
              <a:t>Markerless</a:t>
            </a:r>
            <a:r>
              <a:rPr lang="en-US" b="1" dirty="0"/>
              <a:t> AR + Knowledge Graph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221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69D9D-49AF-2A0B-0900-A3449B904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Conclusion  and future 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B8258-0797-F4EA-31B5-F1D0C35CD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6619"/>
            <a:ext cx="10515600" cy="3873911"/>
          </a:xfrm>
        </p:spPr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  <a:p>
            <a:r>
              <a:rPr lang="en-US" dirty="0"/>
              <a:t>Proposed an AI-powered smart tourism ecosystem.</a:t>
            </a:r>
          </a:p>
          <a:p>
            <a:r>
              <a:rPr lang="en-US" dirty="0"/>
              <a:t>Integrates itinerary planning, safety, culture, and AR.</a:t>
            </a:r>
          </a:p>
          <a:p>
            <a:r>
              <a:rPr lang="en-US" dirty="0"/>
              <a:t>Improves personalization, safety, and engagement.</a:t>
            </a:r>
          </a:p>
          <a:p>
            <a:r>
              <a:rPr lang="en-US" b="1" dirty="0"/>
              <a:t>Future Work</a:t>
            </a:r>
            <a:endParaRPr lang="en-US" dirty="0"/>
          </a:p>
          <a:p>
            <a:r>
              <a:rPr lang="en-US" dirty="0"/>
              <a:t>Large-scale real-world testing.</a:t>
            </a:r>
          </a:p>
          <a:p>
            <a:r>
              <a:rPr lang="en-US" dirty="0"/>
              <a:t>Improve AR precision.</a:t>
            </a:r>
          </a:p>
          <a:p>
            <a:r>
              <a:rPr lang="en-US" dirty="0"/>
              <a:t>Expand tourism knowledge graph.</a:t>
            </a:r>
          </a:p>
        </p:txBody>
      </p:sp>
    </p:spTree>
    <p:extLst>
      <p:ext uri="{BB962C8B-B14F-4D97-AF65-F5344CB8AC3E}">
        <p14:creationId xmlns:p14="http://schemas.microsoft.com/office/powerpoint/2010/main" val="3556094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7293C-226B-94A0-C3CF-509EFA4DB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012" y="2890683"/>
            <a:ext cx="4028769" cy="84557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 Black" panose="020B0A04020102020204" pitchFamily="34" charset="0"/>
              </a:rPr>
              <a:t>Thank You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68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1260</TotalTime>
  <Words>508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Office Theme</vt:lpstr>
      <vt:lpstr>Custom Design</vt:lpstr>
      <vt:lpstr>PowerPoint Presentation</vt:lpstr>
      <vt:lpstr>Introduction</vt:lpstr>
      <vt:lpstr>Research Problem</vt:lpstr>
      <vt:lpstr>Proposed Solution</vt:lpstr>
      <vt:lpstr>Module 1 - Dynamic Itinerary Planning</vt:lpstr>
      <vt:lpstr>Module 2 - Intelligent Safety</vt:lpstr>
      <vt:lpstr>Module 3 - Cultural Marketplace</vt:lpstr>
      <vt:lpstr>Module 4 - AR Discovery</vt:lpstr>
      <vt:lpstr>Results &amp; Evaluation</vt:lpstr>
      <vt:lpstr>Comparison with Existing Solutions</vt:lpstr>
      <vt:lpstr>Conclusion  and future work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KGP DENUWAN</dc:creator>
  <cp:lastModifiedBy>DE SOYSA J.C it22575876</cp:lastModifiedBy>
  <cp:revision>12</cp:revision>
  <dcterms:created xsi:type="dcterms:W3CDTF">2025-01-26T15:14:12Z</dcterms:created>
  <dcterms:modified xsi:type="dcterms:W3CDTF">2026-02-12T11:26:46Z</dcterms:modified>
</cp:coreProperties>
</file>